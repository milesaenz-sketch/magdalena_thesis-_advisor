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Welcome. This is an interactive session — tell the audience you'll ask for their voices throughout: a warm-up poll, discussion prompts, a hands-on activity and open debate. This presentation connects the film The Chorus (Les Choristes, 2004) with the bio-pedagogical concepts of Challenge 3: emotional climate, teacher mediation, positive emotions and motivation in foreign language learning.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FACILITATION (3–4 min): Ask each question in turn. Take 2–3 voices per question; do not rush to the 'right' answer — the point is to surface emotion and motivation from the audience's own experience. Q3 can be a quick word-cloud in the chat. These answers are your hook: refer back to them during the theory and at the closing reflection.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eight points move from the story to the theory and finish with a practical application for the Prototype Phase of the workshop.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story is simple but powerful: a caring mediator transforms an institution built on fear. This is the narrative core we read through a bio-pedagogical lens.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film stages a contrast between two paradigms. Rachin represents transmission and control; Mathieu represents mediation and care. FACILITATION: Ask for a show of hands on each side — most will recognise both. Then ask one or two people to name a concrete behaviour that made the difference.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now move from the narrative to the five academic sources that frame Challenge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Pérez-Cárdenas gives us the central concept: bio-pedagogical mediation. Mathieu is a living example of each of these traits.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Emotional climate is not decoration — it is a condition for learning. These four moments show it at work in the film.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Broaden-and-build theory explains WHY the choir works: positive emotion expands the boys' thought-action repertoire and builds durable resources like confidence.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Méndez and Galeano give us the motivational layer: emotions drive participation and perseverance. Morhange's arc is the clearest example.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Niu widens the frame: language teaching carries values and ideology. The film shows music doing exactly that — a model for meaningful, transdisciplinary ELT.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FACILITATION (~10 min): Run Think–Pair–Share. Keep time visibly. In the Share step, collect 2–3 'choir moments' and map each aloud to a bio-pedagogical trait and to one of the references. This activity feeds directly into the Prototype Phase checklist on the next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checklist operationalises every reference into concrete design moves for the workshop's Prototype Phase.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FACILITATION (5–8 min): Let the audience choose. Invite one voice to take a position, then a counter-voice before you comment. Q3 is especially relevant for UNAD's distance-learning context — draw it out. Close by linking the discussion to the three takeaways coming next.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takeaways synthesise the whole argument: mediation, emotion, and meaning. FACILITATION: Ask each participant to commit out loud (or in the chat) to ONE concrete change for the coming week. Tie it back to their warm-up answers from the start of the session.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six sources that frame Challenge 3, in APA style.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Thank you. I'm happy to take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23E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">
    <p:bg>
      <p:bgPr>
        <a:solidFill>
          <a:srgbClr val="1F5E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644652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Chorus (2004) · Challenge 3 — Bio-Pedagogical Mediations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1064240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F5E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UNAD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332720" y="644652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26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332720" y="644652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26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slideLayout" Target="../slideLayouts/slideLayout4.xml"/><Relationship Id="rId11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slideLayout" Target="../slideLayouts/slideLayout4.xml"/><Relationship Id="rId10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slideLayout" Target="../slideLayouts/slideLayout4.xml"/><Relationship Id="rId9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image" Target="../media/image-12-7.png"/><Relationship Id="rId8" Type="http://schemas.openxmlformats.org/officeDocument/2006/relationships/slideLayout" Target="../slideLayouts/slideLayout4.xml"/><Relationship Id="rId9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2487961" y="5896051"/>
            <a:ext cx="868680" cy="277978"/>
          </a:xfrm>
          <a:prstGeom prst="roundRect">
            <a:avLst>
              <a:gd name="adj" fmla="val 50000"/>
            </a:avLst>
          </a:prstGeom>
          <a:solidFill>
            <a:srgbClr val="1F5E34"/>
          </a:solidFill>
          <a:ln/>
        </p:spPr>
      </p:sp>
      <p:sp>
        <p:nvSpPr>
          <p:cNvPr id="3" name="Shape 1"/>
          <p:cNvSpPr/>
          <p:nvPr/>
        </p:nvSpPr>
        <p:spPr>
          <a:xfrm rot="1800000">
            <a:off x="12190025" y="7007962"/>
            <a:ext cx="868680" cy="277978"/>
          </a:xfrm>
          <a:prstGeom prst="roundRect">
            <a:avLst>
              <a:gd name="adj" fmla="val 50000"/>
            </a:avLst>
          </a:prstGeom>
          <a:solidFill>
            <a:srgbClr val="1F5E34"/>
          </a:solidFill>
          <a:ln/>
        </p:spPr>
      </p:sp>
      <p:sp>
        <p:nvSpPr>
          <p:cNvPr id="4" name="Shape 2"/>
          <p:cNvSpPr/>
          <p:nvPr/>
        </p:nvSpPr>
        <p:spPr>
          <a:xfrm rot="3600000">
            <a:off x="11376050" y="7821937"/>
            <a:ext cx="868680" cy="277978"/>
          </a:xfrm>
          <a:prstGeom prst="roundRect">
            <a:avLst>
              <a:gd name="adj" fmla="val 50000"/>
            </a:avLst>
          </a:prstGeom>
          <a:solidFill>
            <a:srgbClr val="1F5E34"/>
          </a:solidFill>
          <a:ln/>
        </p:spPr>
      </p:sp>
      <p:sp>
        <p:nvSpPr>
          <p:cNvPr id="5" name="Shape 3"/>
          <p:cNvSpPr/>
          <p:nvPr/>
        </p:nvSpPr>
        <p:spPr>
          <a:xfrm rot="5400000">
            <a:off x="10264140" y="8119872"/>
            <a:ext cx="868680" cy="277978"/>
          </a:xfrm>
          <a:prstGeom prst="roundRect">
            <a:avLst>
              <a:gd name="adj" fmla="val 50000"/>
            </a:avLst>
          </a:prstGeom>
          <a:solidFill>
            <a:srgbClr val="1F5E34"/>
          </a:solidFill>
          <a:ln/>
        </p:spPr>
      </p:sp>
      <p:sp>
        <p:nvSpPr>
          <p:cNvPr id="6" name="Shape 4"/>
          <p:cNvSpPr/>
          <p:nvPr/>
        </p:nvSpPr>
        <p:spPr>
          <a:xfrm rot="7200000">
            <a:off x="9152230" y="7821937"/>
            <a:ext cx="868680" cy="277978"/>
          </a:xfrm>
          <a:prstGeom prst="roundRect">
            <a:avLst>
              <a:gd name="adj" fmla="val 50000"/>
            </a:avLst>
          </a:prstGeom>
          <a:solidFill>
            <a:srgbClr val="1F5E34"/>
          </a:solidFill>
          <a:ln/>
        </p:spPr>
      </p:sp>
      <p:sp>
        <p:nvSpPr>
          <p:cNvPr id="7" name="Shape 5"/>
          <p:cNvSpPr/>
          <p:nvPr/>
        </p:nvSpPr>
        <p:spPr>
          <a:xfrm rot="9000000">
            <a:off x="8338255" y="7007962"/>
            <a:ext cx="868680" cy="277978"/>
          </a:xfrm>
          <a:prstGeom prst="roundRect">
            <a:avLst>
              <a:gd name="adj" fmla="val 50000"/>
            </a:avLst>
          </a:prstGeom>
          <a:solidFill>
            <a:srgbClr val="1F5E34"/>
          </a:solidFill>
          <a:ln/>
        </p:spPr>
      </p:sp>
      <p:sp>
        <p:nvSpPr>
          <p:cNvPr id="8" name="Shape 6"/>
          <p:cNvSpPr/>
          <p:nvPr/>
        </p:nvSpPr>
        <p:spPr>
          <a:xfrm rot="10800000">
            <a:off x="8040319" y="5896051"/>
            <a:ext cx="868680" cy="277978"/>
          </a:xfrm>
          <a:prstGeom prst="roundRect">
            <a:avLst>
              <a:gd name="adj" fmla="val 50000"/>
            </a:avLst>
          </a:prstGeom>
          <a:solidFill>
            <a:srgbClr val="1F5E34"/>
          </a:solidFill>
          <a:ln/>
        </p:spPr>
      </p:sp>
      <p:sp>
        <p:nvSpPr>
          <p:cNvPr id="9" name="Shape 7"/>
          <p:cNvSpPr/>
          <p:nvPr/>
        </p:nvSpPr>
        <p:spPr>
          <a:xfrm rot="12600000">
            <a:off x="8338255" y="4784141"/>
            <a:ext cx="868680" cy="277978"/>
          </a:xfrm>
          <a:prstGeom prst="roundRect">
            <a:avLst>
              <a:gd name="adj" fmla="val 50000"/>
            </a:avLst>
          </a:prstGeom>
          <a:solidFill>
            <a:srgbClr val="1F5E34"/>
          </a:solidFill>
          <a:ln/>
        </p:spPr>
      </p:sp>
      <p:sp>
        <p:nvSpPr>
          <p:cNvPr id="10" name="Shape 8"/>
          <p:cNvSpPr/>
          <p:nvPr/>
        </p:nvSpPr>
        <p:spPr>
          <a:xfrm rot="14400000">
            <a:off x="9152230" y="3970166"/>
            <a:ext cx="868680" cy="277978"/>
          </a:xfrm>
          <a:prstGeom prst="roundRect">
            <a:avLst>
              <a:gd name="adj" fmla="val 50000"/>
            </a:avLst>
          </a:prstGeom>
          <a:solidFill>
            <a:srgbClr val="1F5E34"/>
          </a:solidFill>
          <a:ln/>
        </p:spPr>
      </p:sp>
      <p:sp>
        <p:nvSpPr>
          <p:cNvPr id="11" name="Shape 9"/>
          <p:cNvSpPr/>
          <p:nvPr/>
        </p:nvSpPr>
        <p:spPr>
          <a:xfrm rot="16200000">
            <a:off x="10264140" y="3672230"/>
            <a:ext cx="868680" cy="277978"/>
          </a:xfrm>
          <a:prstGeom prst="roundRect">
            <a:avLst>
              <a:gd name="adj" fmla="val 50000"/>
            </a:avLst>
          </a:prstGeom>
          <a:solidFill>
            <a:srgbClr val="1F5E34"/>
          </a:solidFill>
          <a:ln/>
        </p:spPr>
      </p:sp>
      <p:sp>
        <p:nvSpPr>
          <p:cNvPr id="12" name="Shape 10"/>
          <p:cNvSpPr/>
          <p:nvPr/>
        </p:nvSpPr>
        <p:spPr>
          <a:xfrm rot="18000000">
            <a:off x="11376050" y="3970166"/>
            <a:ext cx="868680" cy="277978"/>
          </a:xfrm>
          <a:prstGeom prst="roundRect">
            <a:avLst>
              <a:gd name="adj" fmla="val 50000"/>
            </a:avLst>
          </a:prstGeom>
          <a:solidFill>
            <a:srgbClr val="1F5E34"/>
          </a:solidFill>
          <a:ln/>
        </p:spPr>
      </p:sp>
      <p:sp>
        <p:nvSpPr>
          <p:cNvPr id="13" name="Shape 11"/>
          <p:cNvSpPr/>
          <p:nvPr/>
        </p:nvSpPr>
        <p:spPr>
          <a:xfrm rot="19800000">
            <a:off x="12190025" y="4784141"/>
            <a:ext cx="868680" cy="277978"/>
          </a:xfrm>
          <a:prstGeom prst="roundRect">
            <a:avLst>
              <a:gd name="adj" fmla="val 50000"/>
            </a:avLst>
          </a:prstGeom>
          <a:solidFill>
            <a:srgbClr val="1F5E34"/>
          </a:solidFill>
          <a:ln/>
        </p:spPr>
      </p:sp>
      <p:sp>
        <p:nvSpPr>
          <p:cNvPr id="14" name="Shape 12"/>
          <p:cNvSpPr/>
          <p:nvPr/>
        </p:nvSpPr>
        <p:spPr>
          <a:xfrm>
            <a:off x="8961120" y="4297680"/>
            <a:ext cx="3474720" cy="3474720"/>
          </a:xfrm>
          <a:prstGeom prst="ellipse">
            <a:avLst/>
          </a:prstGeom>
          <a:solidFill>
            <a:srgbClr val="1F5E34"/>
          </a:solidFill>
          <a:ln/>
        </p:spPr>
      </p:sp>
      <p:sp>
        <p:nvSpPr>
          <p:cNvPr id="15" name="Shape 13"/>
          <p:cNvSpPr/>
          <p:nvPr/>
        </p:nvSpPr>
        <p:spPr>
          <a:xfrm>
            <a:off x="9621317" y="4957877"/>
            <a:ext cx="2154326" cy="2154326"/>
          </a:xfrm>
          <a:prstGeom prst="ellipse">
            <a:avLst/>
          </a:prstGeom>
          <a:solidFill>
            <a:srgbClr val="1A4C2C"/>
          </a:solidFill>
          <a:ln/>
        </p:spPr>
      </p:sp>
      <p:sp>
        <p:nvSpPr>
          <p:cNvPr id="16" name="Shape 14"/>
          <p:cNvSpPr/>
          <p:nvPr/>
        </p:nvSpPr>
        <p:spPr>
          <a:xfrm>
            <a:off x="10351008" y="5444338"/>
            <a:ext cx="694944" cy="69494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7" name="Shape 15"/>
          <p:cNvSpPr/>
          <p:nvPr/>
        </p:nvSpPr>
        <p:spPr>
          <a:xfrm>
            <a:off x="9968789" y="5896051"/>
            <a:ext cx="1459382" cy="1216152"/>
          </a:xfrm>
          <a:prstGeom prst="chord">
            <a:avLst>
              <a:gd name="adj1" fmla="val 10800000"/>
              <a:gd name="adj2" fmla="val 21600000"/>
            </a:avLst>
          </a:prstGeom>
          <a:solidFill>
            <a:srgbClr val="FFFFFF"/>
          </a:solidFill>
          <a:ln/>
        </p:spPr>
      </p:sp>
      <p:sp>
        <p:nvSpPr>
          <p:cNvPr id="18" name="Shape 16"/>
          <p:cNvSpPr/>
          <p:nvPr/>
        </p:nvSpPr>
        <p:spPr>
          <a:xfrm>
            <a:off x="846917" y="693847"/>
            <a:ext cx="64008" cy="20483"/>
          </a:xfrm>
          <a:prstGeom prst="roundRect">
            <a:avLst>
              <a:gd name="adj" fmla="val 49999"/>
            </a:avLst>
          </a:prstGeom>
          <a:solidFill>
            <a:srgbClr val="F2AD32"/>
          </a:solidFill>
          <a:ln/>
        </p:spPr>
      </p:sp>
      <p:sp>
        <p:nvSpPr>
          <p:cNvPr id="19" name="Shape 17"/>
          <p:cNvSpPr/>
          <p:nvPr/>
        </p:nvSpPr>
        <p:spPr>
          <a:xfrm rot="1800000">
            <a:off x="824964" y="775777"/>
            <a:ext cx="64008" cy="20483"/>
          </a:xfrm>
          <a:prstGeom prst="roundRect">
            <a:avLst>
              <a:gd name="adj" fmla="val 49999"/>
            </a:avLst>
          </a:prstGeom>
          <a:solidFill>
            <a:srgbClr val="4E9A3E"/>
          </a:solidFill>
          <a:ln/>
        </p:spPr>
      </p:sp>
      <p:sp>
        <p:nvSpPr>
          <p:cNvPr id="20" name="Shape 18"/>
          <p:cNvSpPr/>
          <p:nvPr/>
        </p:nvSpPr>
        <p:spPr>
          <a:xfrm rot="3600000">
            <a:off x="764987" y="835754"/>
            <a:ext cx="64008" cy="20483"/>
          </a:xfrm>
          <a:prstGeom prst="roundRect">
            <a:avLst>
              <a:gd name="adj" fmla="val 49999"/>
            </a:avLst>
          </a:prstGeom>
          <a:solidFill>
            <a:srgbClr val="F2AD32"/>
          </a:solidFill>
          <a:ln/>
        </p:spPr>
      </p:sp>
      <p:sp>
        <p:nvSpPr>
          <p:cNvPr id="21" name="Shape 19"/>
          <p:cNvSpPr/>
          <p:nvPr/>
        </p:nvSpPr>
        <p:spPr>
          <a:xfrm rot="5400000">
            <a:off x="683057" y="857707"/>
            <a:ext cx="64008" cy="20483"/>
          </a:xfrm>
          <a:prstGeom prst="roundRect">
            <a:avLst>
              <a:gd name="adj" fmla="val 49999"/>
            </a:avLst>
          </a:prstGeom>
          <a:solidFill>
            <a:srgbClr val="4E9A3E"/>
          </a:solidFill>
          <a:ln/>
        </p:spPr>
      </p:sp>
      <p:sp>
        <p:nvSpPr>
          <p:cNvPr id="22" name="Shape 20"/>
          <p:cNvSpPr/>
          <p:nvPr/>
        </p:nvSpPr>
        <p:spPr>
          <a:xfrm rot="7200000">
            <a:off x="601127" y="835754"/>
            <a:ext cx="64008" cy="20483"/>
          </a:xfrm>
          <a:prstGeom prst="roundRect">
            <a:avLst>
              <a:gd name="adj" fmla="val 49999"/>
            </a:avLst>
          </a:prstGeom>
          <a:solidFill>
            <a:srgbClr val="F2AD32"/>
          </a:solidFill>
          <a:ln/>
        </p:spPr>
      </p:sp>
      <p:sp>
        <p:nvSpPr>
          <p:cNvPr id="23" name="Shape 21"/>
          <p:cNvSpPr/>
          <p:nvPr/>
        </p:nvSpPr>
        <p:spPr>
          <a:xfrm rot="9000000">
            <a:off x="541149" y="775777"/>
            <a:ext cx="64008" cy="20483"/>
          </a:xfrm>
          <a:prstGeom prst="roundRect">
            <a:avLst>
              <a:gd name="adj" fmla="val 49999"/>
            </a:avLst>
          </a:prstGeom>
          <a:solidFill>
            <a:srgbClr val="4E9A3E"/>
          </a:solidFill>
          <a:ln/>
        </p:spPr>
      </p:sp>
      <p:sp>
        <p:nvSpPr>
          <p:cNvPr id="24" name="Shape 22"/>
          <p:cNvSpPr/>
          <p:nvPr/>
        </p:nvSpPr>
        <p:spPr>
          <a:xfrm rot="10800000">
            <a:off x="519196" y="693847"/>
            <a:ext cx="64008" cy="20483"/>
          </a:xfrm>
          <a:prstGeom prst="roundRect">
            <a:avLst>
              <a:gd name="adj" fmla="val 49999"/>
            </a:avLst>
          </a:prstGeom>
          <a:solidFill>
            <a:srgbClr val="F2AD32"/>
          </a:solidFill>
          <a:ln/>
        </p:spPr>
      </p:sp>
      <p:sp>
        <p:nvSpPr>
          <p:cNvPr id="25" name="Shape 23"/>
          <p:cNvSpPr/>
          <p:nvPr/>
        </p:nvSpPr>
        <p:spPr>
          <a:xfrm rot="12600000">
            <a:off x="541149" y="611916"/>
            <a:ext cx="64008" cy="20483"/>
          </a:xfrm>
          <a:prstGeom prst="roundRect">
            <a:avLst>
              <a:gd name="adj" fmla="val 49999"/>
            </a:avLst>
          </a:prstGeom>
          <a:solidFill>
            <a:srgbClr val="4E9A3E"/>
          </a:solidFill>
          <a:ln/>
        </p:spPr>
      </p:sp>
      <p:sp>
        <p:nvSpPr>
          <p:cNvPr id="26" name="Shape 24"/>
          <p:cNvSpPr/>
          <p:nvPr/>
        </p:nvSpPr>
        <p:spPr>
          <a:xfrm rot="14400000">
            <a:off x="601127" y="551939"/>
            <a:ext cx="64008" cy="20483"/>
          </a:xfrm>
          <a:prstGeom prst="roundRect">
            <a:avLst>
              <a:gd name="adj" fmla="val 49999"/>
            </a:avLst>
          </a:prstGeom>
          <a:solidFill>
            <a:srgbClr val="F2AD32"/>
          </a:solidFill>
          <a:ln/>
        </p:spPr>
      </p:sp>
      <p:sp>
        <p:nvSpPr>
          <p:cNvPr id="27" name="Shape 25"/>
          <p:cNvSpPr/>
          <p:nvPr/>
        </p:nvSpPr>
        <p:spPr>
          <a:xfrm rot="16200000">
            <a:off x="683057" y="529986"/>
            <a:ext cx="64008" cy="20483"/>
          </a:xfrm>
          <a:prstGeom prst="roundRect">
            <a:avLst>
              <a:gd name="adj" fmla="val 49999"/>
            </a:avLst>
          </a:prstGeom>
          <a:solidFill>
            <a:srgbClr val="4E9A3E"/>
          </a:solidFill>
          <a:ln/>
        </p:spPr>
      </p:sp>
      <p:sp>
        <p:nvSpPr>
          <p:cNvPr id="28" name="Shape 26"/>
          <p:cNvSpPr/>
          <p:nvPr/>
        </p:nvSpPr>
        <p:spPr>
          <a:xfrm rot="18000000">
            <a:off x="764987" y="551939"/>
            <a:ext cx="64008" cy="20483"/>
          </a:xfrm>
          <a:prstGeom prst="roundRect">
            <a:avLst>
              <a:gd name="adj" fmla="val 49999"/>
            </a:avLst>
          </a:prstGeom>
          <a:solidFill>
            <a:srgbClr val="F2AD32"/>
          </a:solidFill>
          <a:ln/>
        </p:spPr>
      </p:sp>
      <p:sp>
        <p:nvSpPr>
          <p:cNvPr id="29" name="Shape 27"/>
          <p:cNvSpPr/>
          <p:nvPr/>
        </p:nvSpPr>
        <p:spPr>
          <a:xfrm rot="19800000">
            <a:off x="824964" y="611916"/>
            <a:ext cx="64008" cy="20483"/>
          </a:xfrm>
          <a:prstGeom prst="roundRect">
            <a:avLst>
              <a:gd name="adj" fmla="val 49999"/>
            </a:avLst>
          </a:prstGeom>
          <a:solidFill>
            <a:srgbClr val="4E9A3E"/>
          </a:solidFill>
          <a:ln/>
        </p:spPr>
      </p:sp>
      <p:sp>
        <p:nvSpPr>
          <p:cNvPr id="30" name="Shape 28"/>
          <p:cNvSpPr/>
          <p:nvPr/>
        </p:nvSpPr>
        <p:spPr>
          <a:xfrm>
            <a:off x="587045" y="576072"/>
            <a:ext cx="256032" cy="256032"/>
          </a:xfrm>
          <a:prstGeom prst="ellipse">
            <a:avLst/>
          </a:prstGeom>
          <a:solidFill>
            <a:srgbClr val="4E9A3E"/>
          </a:solidFill>
          <a:ln/>
        </p:spPr>
      </p:sp>
      <p:sp>
        <p:nvSpPr>
          <p:cNvPr id="31" name="Shape 29"/>
          <p:cNvSpPr/>
          <p:nvPr/>
        </p:nvSpPr>
        <p:spPr>
          <a:xfrm>
            <a:off x="635691" y="624718"/>
            <a:ext cx="158740" cy="158740"/>
          </a:xfrm>
          <a:prstGeom prst="ellipse">
            <a:avLst/>
          </a:prstGeom>
          <a:solidFill>
            <a:srgbClr val="F2AD32"/>
          </a:solidFill>
          <a:ln/>
        </p:spPr>
      </p:sp>
      <p:sp>
        <p:nvSpPr>
          <p:cNvPr id="32" name="Shape 30"/>
          <p:cNvSpPr/>
          <p:nvPr/>
        </p:nvSpPr>
        <p:spPr>
          <a:xfrm>
            <a:off x="689458" y="660563"/>
            <a:ext cx="51206" cy="5120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3" name="Shape 31"/>
          <p:cNvSpPr/>
          <p:nvPr/>
        </p:nvSpPr>
        <p:spPr>
          <a:xfrm>
            <a:off x="661294" y="693847"/>
            <a:ext cx="107533" cy="89611"/>
          </a:xfrm>
          <a:prstGeom prst="chord">
            <a:avLst>
              <a:gd name="adj1" fmla="val 10800000"/>
              <a:gd name="adj2" fmla="val 21600000"/>
            </a:avLst>
          </a:prstGeom>
          <a:solidFill>
            <a:srgbClr val="FFFFFF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907085" y="48463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spc="100" kern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UNAD</a:t>
            </a:r>
            <a:endParaRPr lang="en-US" sz="1800" dirty="0"/>
          </a:p>
        </p:txBody>
      </p:sp>
      <p:sp>
        <p:nvSpPr>
          <p:cNvPr id="35" name="Text 33"/>
          <p:cNvSpPr txBox="1"/>
          <p:nvPr/>
        </p:nvSpPr>
        <p:spPr>
          <a:xfrm>
            <a:off x="907085" y="722376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CFE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Universidad Nacional Abierta y a Distancia</a:t>
            </a:r>
            <a:endParaRPr lang="en-US" sz="750" dirty="0"/>
          </a:p>
        </p:txBody>
      </p:sp>
      <p:sp>
        <p:nvSpPr>
          <p:cNvPr id="36" name="Text 34"/>
          <p:cNvSpPr txBox="1"/>
          <p:nvPr/>
        </p:nvSpPr>
        <p:spPr>
          <a:xfrm>
            <a:off x="566928" y="214884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2A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 3  ·  BIO-PEDAGOGICAL MEDIATIONS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502920" y="2514600"/>
            <a:ext cx="10515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Chorus (2004)</a:t>
            </a:r>
            <a:endParaRPr lang="en-US" sz="6200" dirty="0"/>
          </a:p>
        </p:txBody>
      </p:sp>
      <p:sp>
        <p:nvSpPr>
          <p:cNvPr id="38" name="Text 36"/>
          <p:cNvSpPr txBox="1"/>
          <p:nvPr/>
        </p:nvSpPr>
        <p:spPr>
          <a:xfrm>
            <a:off x="548640" y="3611880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rgbClr val="D9E8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Emotion, motivation and bio-pedagogical mediation in the teaching of a foreign language</a:t>
            </a:r>
            <a:endParaRPr lang="en-US" sz="1900" dirty="0"/>
          </a:p>
        </p:txBody>
      </p:sp>
      <p:sp>
        <p:nvSpPr>
          <p:cNvPr id="39" name="Shape 37"/>
          <p:cNvSpPr/>
          <p:nvPr/>
        </p:nvSpPr>
        <p:spPr>
          <a:xfrm>
            <a:off x="566928" y="4617720"/>
            <a:ext cx="2103120" cy="32004"/>
          </a:xfrm>
          <a:prstGeom prst="roundRect">
            <a:avLst>
              <a:gd name="adj" fmla="val 57143"/>
            </a:avLst>
          </a:prstGeom>
          <a:solidFill>
            <a:srgbClr val="F2AD32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548640" y="4892040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Course:  </a:t>
            </a:r>
            <a:pPr algn="l" indent="0" marL="0">
              <a:buNone/>
            </a:pPr>
            <a:r>
              <a:rPr lang="en-US" sz="1400" dirty="0">
                <a:solidFill>
                  <a:srgbClr val="CFE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Bio-Pedagogical Characteristics of Education  (523004A_2204)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548640" y="5230368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Author:  </a:t>
            </a:r>
            <a:pPr algn="l" indent="0" marL="0">
              <a:buNone/>
            </a:pPr>
            <a:r>
              <a:rPr lang="en-US" sz="1400" dirty="0">
                <a:solidFill>
                  <a:srgbClr val="CFE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Blanca Milena Sáenz Clavijo</a:t>
            </a:r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School:  </a:t>
            </a:r>
            <a:pPr algn="l" indent="0" marL="0">
              <a:buNone/>
            </a:pPr>
            <a:r>
              <a:rPr lang="en-US" sz="1400" dirty="0">
                <a:solidFill>
                  <a:srgbClr val="CFE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Escuela de Ciencias de la Educación — ECEDU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548640" y="5806440"/>
            <a:ext cx="4709160" cy="475488"/>
          </a:xfrm>
          <a:prstGeom prst="roundRect">
            <a:avLst>
              <a:gd name="adj" fmla="val 50000"/>
            </a:avLst>
          </a:prstGeom>
          <a:solidFill>
            <a:srgbClr val="1A4C2C"/>
          </a:solidFill>
          <a:ln w="12700">
            <a:solidFill>
              <a:srgbClr val="F2AD32"/>
            </a:solidFill>
            <a:prstDash val="solid"/>
          </a:ln>
        </p:spPr>
      </p:sp>
      <p:pic>
        <p:nvPicPr>
          <p:cNvPr id="4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5916168"/>
            <a:ext cx="256032" cy="256032"/>
          </a:xfrm>
          <a:prstGeom prst="rect">
            <a:avLst/>
          </a:prstGeom>
        </p:spPr>
      </p:pic>
      <p:sp>
        <p:nvSpPr>
          <p:cNvPr id="44" name="Text 41"/>
          <p:cNvSpPr txBox="1"/>
          <p:nvPr/>
        </p:nvSpPr>
        <p:spPr>
          <a:xfrm>
            <a:off x="1097280" y="5806440"/>
            <a:ext cx="4114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100" kern="0" dirty="0">
                <a:solidFill>
                  <a:srgbClr val="F2A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INTERACTIVE SESSION — YOUR VOICE MATTERS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5720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097280" y="420624"/>
            <a:ext cx="10424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4E9A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LET'S BEGIN WITH YOU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1097280" y="658368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A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Warm-up — raise your hand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1554480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50" dirty="0">
                <a:solidFill>
                  <a:srgbClr val="2B2A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the theory, three quick questions. Raise your hand, call out, or drop a word in the chat — there are no wrong answers.</a:t>
            </a:r>
            <a:endParaRPr lang="en-US" sz="1550" dirty="0"/>
          </a:p>
        </p:txBody>
      </p:sp>
      <p:sp>
        <p:nvSpPr>
          <p:cNvPr id="6" name="Shape 3"/>
          <p:cNvSpPr/>
          <p:nvPr/>
        </p:nvSpPr>
        <p:spPr>
          <a:xfrm>
            <a:off x="502920" y="2377440"/>
            <a:ext cx="3611880" cy="3108960"/>
          </a:xfrm>
          <a:prstGeom prst="roundRect">
            <a:avLst>
              <a:gd name="adj" fmla="val 2941"/>
            </a:avLst>
          </a:prstGeom>
          <a:solidFill>
            <a:srgbClr val="EDF4E7"/>
          </a:solidFill>
          <a:ln w="9525">
            <a:solidFill>
              <a:srgbClr val="D8E0D2"/>
            </a:solidFill>
            <a:prstDash val="solid"/>
          </a:ln>
          <a:effectLst>
            <a:outerShdw sx="100000" sy="100000" kx="0" ky="0" algn="bl" rotWithShape="0" blurRad="76200" dist="25400" dir="5400000">
              <a:srgbClr val="BBBBBB">
                <a:alpha val="28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897380" y="2724912"/>
            <a:ext cx="822960" cy="822960"/>
          </a:xfrm>
          <a:prstGeom prst="ellipse">
            <a:avLst/>
          </a:prstGeom>
          <a:solidFill>
            <a:srgbClr val="4E9A3E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1350" y="2938882"/>
            <a:ext cx="395021" cy="395021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85800" y="3675888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E9A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Q1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822960" y="4069080"/>
            <a:ext cx="2971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B2A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of a teacher who changed how you FELT about learning. What did they do?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4297680" y="2377440"/>
            <a:ext cx="3611880" cy="3108960"/>
          </a:xfrm>
          <a:prstGeom prst="roundRect">
            <a:avLst>
              <a:gd name="adj" fmla="val 2941"/>
            </a:avLst>
          </a:prstGeom>
          <a:solidFill>
            <a:srgbClr val="FBF2DD"/>
          </a:solidFill>
          <a:ln w="9525">
            <a:solidFill>
              <a:srgbClr val="D8E0D2"/>
            </a:solidFill>
            <a:prstDash val="solid"/>
          </a:ln>
          <a:effectLst>
            <a:outerShdw sx="100000" sy="100000" kx="0" ky="0" algn="bl" rotWithShape="0" blurRad="76200" dist="25400" dir="5400000">
              <a:srgbClr val="BBBBBB">
                <a:alpha val="28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5692140" y="2724912"/>
            <a:ext cx="822960" cy="822960"/>
          </a:xfrm>
          <a:prstGeom prst="ellipse">
            <a:avLst/>
          </a:prstGeom>
          <a:solidFill>
            <a:srgbClr val="F2AD32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06110" y="2938882"/>
            <a:ext cx="395021" cy="395021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4480560" y="3675888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D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Q2</a:t>
            </a:r>
            <a:endParaRPr lang="en-US" sz="1500" dirty="0"/>
          </a:p>
        </p:txBody>
      </p:sp>
      <p:sp>
        <p:nvSpPr>
          <p:cNvPr id="15" name="Text 10"/>
          <p:cNvSpPr txBox="1"/>
          <p:nvPr/>
        </p:nvSpPr>
        <p:spPr>
          <a:xfrm>
            <a:off x="4617720" y="4069080"/>
            <a:ext cx="2971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B2A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do YOU learn best — under pressure, or when you feel safe and motivated?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8092440" y="2377440"/>
            <a:ext cx="3611880" cy="3108960"/>
          </a:xfrm>
          <a:prstGeom prst="roundRect">
            <a:avLst>
              <a:gd name="adj" fmla="val 2941"/>
            </a:avLst>
          </a:prstGeom>
          <a:solidFill>
            <a:srgbClr val="E4F0F8"/>
          </a:solidFill>
          <a:ln w="9525">
            <a:solidFill>
              <a:srgbClr val="D8E0D2"/>
            </a:solidFill>
            <a:prstDash val="solid"/>
          </a:ln>
          <a:effectLst>
            <a:outerShdw sx="100000" sy="100000" kx="0" ky="0" algn="bl" rotWithShape="0" blurRad="76200" dist="25400" dir="5400000">
              <a:srgbClr val="BBBBBB">
                <a:alpha val="28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9486900" y="2724912"/>
            <a:ext cx="822960" cy="822960"/>
          </a:xfrm>
          <a:prstGeom prst="ellipse">
            <a:avLst/>
          </a:prstGeom>
          <a:solidFill>
            <a:srgbClr val="007AC8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00870" y="2938882"/>
            <a:ext cx="395021" cy="395021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8275320" y="3675888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7AC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Q3</a:t>
            </a:r>
            <a:endParaRPr lang="en-US" sz="1500" dirty="0"/>
          </a:p>
        </p:txBody>
      </p:sp>
      <p:sp>
        <p:nvSpPr>
          <p:cNvPr id="20" name="Text 14"/>
          <p:cNvSpPr txBox="1"/>
          <p:nvPr/>
        </p:nvSpPr>
        <p:spPr>
          <a:xfrm>
            <a:off x="8412480" y="4069080"/>
            <a:ext cx="2971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B2A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Have you seen The Chorus? In one word, how did it make you feel?</a:t>
            </a:r>
            <a:endParaRPr lang="en-US" sz="1400" dirty="0"/>
          </a:p>
        </p:txBody>
      </p:sp>
      <p:sp>
        <p:nvSpPr>
          <p:cNvPr id="21" name="Text 15"/>
          <p:cNvSpPr txBox="1"/>
          <p:nvPr/>
        </p:nvSpPr>
        <p:spPr>
          <a:xfrm>
            <a:off x="502920" y="571500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1F5E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Keep your answer in mind — we will return to it at the end.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332720" y="644652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26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5720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097280" y="420624"/>
            <a:ext cx="10424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4E9A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1097280" y="658368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A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presentation covers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502920" y="1554480"/>
            <a:ext cx="5394960" cy="1078992"/>
          </a:xfrm>
          <a:prstGeom prst="roundRect">
            <a:avLst>
              <a:gd name="adj" fmla="val 8475"/>
            </a:avLst>
          </a:prstGeom>
          <a:solidFill>
            <a:srgbClr val="EDF4E7"/>
          </a:solidFill>
          <a:ln w="9525">
            <a:solidFill>
              <a:srgbClr val="D8E0D2"/>
            </a:solidFill>
            <a:prstDash val="solid"/>
          </a:ln>
          <a:effectLst>
            <a:outerShdw sx="100000" sy="100000" kx="0" ky="0" algn="bl" rotWithShape="0" blurRad="76200" dist="25400" dir="5400000">
              <a:srgbClr val="BBBBBB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04088" y="1828800"/>
            <a:ext cx="530352" cy="530352"/>
          </a:xfrm>
          <a:prstGeom prst="ellipse">
            <a:avLst/>
          </a:prstGeom>
          <a:solidFill>
            <a:srgbClr val="4E9A3E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980" y="1966692"/>
            <a:ext cx="254569" cy="254569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417320" y="1709928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A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film at a glance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1417320" y="2075688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E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Setting, characters and the central conflict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6355080" y="1554480"/>
            <a:ext cx="5394960" cy="1078992"/>
          </a:xfrm>
          <a:prstGeom prst="roundRect">
            <a:avLst>
              <a:gd name="adj" fmla="val 8475"/>
            </a:avLst>
          </a:prstGeom>
          <a:solidFill>
            <a:srgbClr val="FBF2DD"/>
          </a:solidFill>
          <a:ln w="9525">
            <a:solidFill>
              <a:srgbClr val="D8E0D2"/>
            </a:solidFill>
            <a:prstDash val="solid"/>
          </a:ln>
          <a:effectLst>
            <a:outerShdw sx="100000" sy="100000" kx="0" ky="0" algn="bl" rotWithShape="0" blurRad="76200" dist="25400" dir="5400000">
              <a:srgbClr val="BBBBBB">
                <a:alpha val="28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6556248" y="1828800"/>
            <a:ext cx="530352" cy="530352"/>
          </a:xfrm>
          <a:prstGeom prst="ellipse">
            <a:avLst/>
          </a:prstGeom>
          <a:solidFill>
            <a:srgbClr val="F2AD32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4140" y="1966692"/>
            <a:ext cx="254569" cy="254569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269480" y="1709928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A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models of pedagogy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7269480" y="2075688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E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&amp; punishment vs. mediation &amp; care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502920" y="2697480"/>
            <a:ext cx="5394960" cy="1078992"/>
          </a:xfrm>
          <a:prstGeom prst="roundRect">
            <a:avLst>
              <a:gd name="adj" fmla="val 8475"/>
            </a:avLst>
          </a:prstGeom>
          <a:solidFill>
            <a:srgbClr val="EDF4E7"/>
          </a:solidFill>
          <a:ln w="9525">
            <a:solidFill>
              <a:srgbClr val="D8E0D2"/>
            </a:solidFill>
            <a:prstDash val="solid"/>
          </a:ln>
          <a:effectLst>
            <a:outerShdw sx="100000" sy="100000" kx="0" ky="0" algn="bl" rotWithShape="0" blurRad="76200" dist="25400" dir="5400000">
              <a:srgbClr val="BBBBBB">
                <a:alpha val="28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704088" y="2971800"/>
            <a:ext cx="530352" cy="530352"/>
          </a:xfrm>
          <a:prstGeom prst="ellipse">
            <a:avLst/>
          </a:prstGeom>
          <a:solidFill>
            <a:srgbClr val="4E9A3E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980" y="3109692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417320" y="2852928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A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Bio-pedagogical mediation</a:t>
            </a:r>
            <a:endParaRPr lang="en-US" sz="1500" dirty="0"/>
          </a:p>
        </p:txBody>
      </p:sp>
      <p:sp>
        <p:nvSpPr>
          <p:cNvPr id="19" name="Text 13"/>
          <p:cNvSpPr txBox="1"/>
          <p:nvPr/>
        </p:nvSpPr>
        <p:spPr>
          <a:xfrm>
            <a:off x="1417320" y="3218688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E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traits and transcendental change (Pérez-Cárdenas, 2021)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6355080" y="2697480"/>
            <a:ext cx="5394960" cy="1078992"/>
          </a:xfrm>
          <a:prstGeom prst="roundRect">
            <a:avLst>
              <a:gd name="adj" fmla="val 8475"/>
            </a:avLst>
          </a:prstGeom>
          <a:solidFill>
            <a:srgbClr val="FBF2DD"/>
          </a:solidFill>
          <a:ln w="9525">
            <a:solidFill>
              <a:srgbClr val="D8E0D2"/>
            </a:solidFill>
            <a:prstDash val="solid"/>
          </a:ln>
          <a:effectLst>
            <a:outerShdw sx="100000" sy="100000" kx="0" ky="0" algn="bl" rotWithShape="0" blurRad="76200" dist="25400" dir="5400000">
              <a:srgbClr val="BBBBBB">
                <a:alpha val="28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6556248" y="2971800"/>
            <a:ext cx="530352" cy="530352"/>
          </a:xfrm>
          <a:prstGeom prst="ellipse">
            <a:avLst/>
          </a:prstGeom>
          <a:solidFill>
            <a:srgbClr val="F2AD32"/>
          </a:solidFill>
          <a:ln/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94140" y="3109692"/>
            <a:ext cx="254569" cy="254569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7269480" y="2852928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A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emotional climate of learning</a:t>
            </a:r>
            <a:endParaRPr lang="en-US" sz="1500" dirty="0"/>
          </a:p>
        </p:txBody>
      </p:sp>
      <p:sp>
        <p:nvSpPr>
          <p:cNvPr id="24" name="Text 17"/>
          <p:cNvSpPr txBox="1"/>
          <p:nvPr/>
        </p:nvSpPr>
        <p:spPr>
          <a:xfrm>
            <a:off x="7269480" y="3218688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E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Relational presence and trust-building</a:t>
            </a:r>
            <a:endParaRPr lang="en-US" sz="1100" dirty="0"/>
          </a:p>
        </p:txBody>
      </p:sp>
      <p:sp>
        <p:nvSpPr>
          <p:cNvPr id="25" name="Shape 18"/>
          <p:cNvSpPr/>
          <p:nvPr/>
        </p:nvSpPr>
        <p:spPr>
          <a:xfrm>
            <a:off x="502920" y="3840480"/>
            <a:ext cx="5394960" cy="1078992"/>
          </a:xfrm>
          <a:prstGeom prst="roundRect">
            <a:avLst>
              <a:gd name="adj" fmla="val 8475"/>
            </a:avLst>
          </a:prstGeom>
          <a:solidFill>
            <a:srgbClr val="EDF4E7"/>
          </a:solidFill>
          <a:ln w="9525">
            <a:solidFill>
              <a:srgbClr val="D8E0D2"/>
            </a:solidFill>
            <a:prstDash val="solid"/>
          </a:ln>
          <a:effectLst>
            <a:outerShdw sx="100000" sy="100000" kx="0" ky="0" algn="bl" rotWithShape="0" blurRad="76200" dist="25400" dir="5400000">
              <a:srgbClr val="BBBBBB">
                <a:alpha val="28000"/>
              </a:srgbClr>
            </a:outerShdw>
          </a:effectLst>
        </p:spPr>
      </p:sp>
      <p:sp>
        <p:nvSpPr>
          <p:cNvPr id="26" name="Shape 19"/>
          <p:cNvSpPr/>
          <p:nvPr/>
        </p:nvSpPr>
        <p:spPr>
          <a:xfrm>
            <a:off x="704088" y="4114800"/>
            <a:ext cx="530352" cy="530352"/>
          </a:xfrm>
          <a:prstGeom prst="ellipse">
            <a:avLst/>
          </a:prstGeom>
          <a:solidFill>
            <a:srgbClr val="4E9A3E"/>
          </a:solidFill>
          <a:ln/>
        </p:spPr>
      </p:sp>
      <p:pic>
        <p:nvPicPr>
          <p:cNvPr id="2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1980" y="4252692"/>
            <a:ext cx="254569" cy="254569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1417320" y="3995928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A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Positive emotions broaden learning</a:t>
            </a:r>
            <a:endParaRPr lang="en-US" sz="1500" dirty="0"/>
          </a:p>
        </p:txBody>
      </p:sp>
      <p:sp>
        <p:nvSpPr>
          <p:cNvPr id="29" name="Text 21"/>
          <p:cNvSpPr txBox="1"/>
          <p:nvPr/>
        </p:nvSpPr>
        <p:spPr>
          <a:xfrm>
            <a:off x="1417320" y="4361688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E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Broaden-and-build (MacIntyre &amp; Gregersen, 2012)</a:t>
            </a:r>
            <a:endParaRPr lang="en-US" sz="1100" dirty="0"/>
          </a:p>
        </p:txBody>
      </p:sp>
      <p:sp>
        <p:nvSpPr>
          <p:cNvPr id="30" name="Shape 22"/>
          <p:cNvSpPr/>
          <p:nvPr/>
        </p:nvSpPr>
        <p:spPr>
          <a:xfrm>
            <a:off x="6355080" y="3840480"/>
            <a:ext cx="5394960" cy="1078992"/>
          </a:xfrm>
          <a:prstGeom prst="roundRect">
            <a:avLst>
              <a:gd name="adj" fmla="val 8475"/>
            </a:avLst>
          </a:prstGeom>
          <a:solidFill>
            <a:srgbClr val="FBF2DD"/>
          </a:solidFill>
          <a:ln w="9525">
            <a:solidFill>
              <a:srgbClr val="D8E0D2"/>
            </a:solidFill>
            <a:prstDash val="solid"/>
          </a:ln>
          <a:effectLst>
            <a:outerShdw sx="100000" sy="100000" kx="0" ky="0" algn="bl" rotWithShape="0" blurRad="76200" dist="25400" dir="5400000">
              <a:srgbClr val="BBBBBB">
                <a:alpha val="28000"/>
              </a:srgbClr>
            </a:outerShdw>
          </a:effectLst>
        </p:spPr>
      </p:sp>
      <p:sp>
        <p:nvSpPr>
          <p:cNvPr id="31" name="Shape 23"/>
          <p:cNvSpPr/>
          <p:nvPr/>
        </p:nvSpPr>
        <p:spPr>
          <a:xfrm>
            <a:off x="6556248" y="4114800"/>
            <a:ext cx="530352" cy="530352"/>
          </a:xfrm>
          <a:prstGeom prst="ellipse">
            <a:avLst/>
          </a:prstGeom>
          <a:solidFill>
            <a:srgbClr val="F2AD32"/>
          </a:solidFill>
          <a:ln/>
        </p:spPr>
      </p:sp>
      <p:pic>
        <p:nvPicPr>
          <p:cNvPr id="3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94140" y="4252692"/>
            <a:ext cx="254569" cy="254569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7269480" y="3995928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A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Emotions as motivation</a:t>
            </a:r>
            <a:endParaRPr lang="en-US" sz="1500" dirty="0"/>
          </a:p>
        </p:txBody>
      </p:sp>
      <p:sp>
        <p:nvSpPr>
          <p:cNvPr id="34" name="Text 25"/>
          <p:cNvSpPr txBox="1"/>
          <p:nvPr/>
        </p:nvSpPr>
        <p:spPr>
          <a:xfrm>
            <a:off x="7269480" y="4361688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E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Participation and perseverance (Méndez, 2011; Galeano, 2022)</a:t>
            </a:r>
            <a:endParaRPr lang="en-US" sz="1100" dirty="0"/>
          </a:p>
        </p:txBody>
      </p:sp>
      <p:sp>
        <p:nvSpPr>
          <p:cNvPr id="35" name="Shape 26"/>
          <p:cNvSpPr/>
          <p:nvPr/>
        </p:nvSpPr>
        <p:spPr>
          <a:xfrm>
            <a:off x="502920" y="4983480"/>
            <a:ext cx="5394960" cy="1078992"/>
          </a:xfrm>
          <a:prstGeom prst="roundRect">
            <a:avLst>
              <a:gd name="adj" fmla="val 8475"/>
            </a:avLst>
          </a:prstGeom>
          <a:solidFill>
            <a:srgbClr val="EDF4E7"/>
          </a:solidFill>
          <a:ln w="9525">
            <a:solidFill>
              <a:srgbClr val="D8E0D2"/>
            </a:solidFill>
            <a:prstDash val="solid"/>
          </a:ln>
          <a:effectLst>
            <a:outerShdw sx="100000" sy="100000" kx="0" ky="0" algn="bl" rotWithShape="0" blurRad="76200" dist="25400" dir="5400000">
              <a:srgbClr val="BBBBBB">
                <a:alpha val="28000"/>
              </a:srgbClr>
            </a:outerShdw>
          </a:effectLst>
        </p:spPr>
      </p:sp>
      <p:sp>
        <p:nvSpPr>
          <p:cNvPr id="36" name="Shape 27"/>
          <p:cNvSpPr/>
          <p:nvPr/>
        </p:nvSpPr>
        <p:spPr>
          <a:xfrm>
            <a:off x="704088" y="5257800"/>
            <a:ext cx="530352" cy="530352"/>
          </a:xfrm>
          <a:prstGeom prst="ellipse">
            <a:avLst/>
          </a:prstGeom>
          <a:solidFill>
            <a:srgbClr val="4E9A3E"/>
          </a:solidFill>
          <a:ln/>
        </p:spPr>
      </p:sp>
      <p:pic>
        <p:nvPicPr>
          <p:cNvPr id="3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1980" y="5395692"/>
            <a:ext cx="254569" cy="254569"/>
          </a:xfrm>
          <a:prstGeom prst="rect">
            <a:avLst/>
          </a:prstGeom>
        </p:spPr>
      </p:pic>
      <p:sp>
        <p:nvSpPr>
          <p:cNvPr id="38" name="Text 28"/>
          <p:cNvSpPr txBox="1"/>
          <p:nvPr/>
        </p:nvSpPr>
        <p:spPr>
          <a:xfrm>
            <a:off x="1417320" y="5138928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A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Values &amp; real-world meaning</a:t>
            </a:r>
            <a:endParaRPr lang="en-US" sz="1500" dirty="0"/>
          </a:p>
        </p:txBody>
      </p:sp>
      <p:sp>
        <p:nvSpPr>
          <p:cNvPr id="39" name="Text 29"/>
          <p:cNvSpPr txBox="1"/>
          <p:nvPr/>
        </p:nvSpPr>
        <p:spPr>
          <a:xfrm>
            <a:off x="1417320" y="5504688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E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Transdisciplinary ELT (Niu, 2024)</a:t>
            </a:r>
            <a:endParaRPr lang="en-US" sz="1100" dirty="0"/>
          </a:p>
        </p:txBody>
      </p:sp>
      <p:sp>
        <p:nvSpPr>
          <p:cNvPr id="40" name="Shape 30"/>
          <p:cNvSpPr/>
          <p:nvPr/>
        </p:nvSpPr>
        <p:spPr>
          <a:xfrm>
            <a:off x="6355080" y="4983480"/>
            <a:ext cx="5394960" cy="1078992"/>
          </a:xfrm>
          <a:prstGeom prst="roundRect">
            <a:avLst>
              <a:gd name="adj" fmla="val 8475"/>
            </a:avLst>
          </a:prstGeom>
          <a:solidFill>
            <a:srgbClr val="FBF2DD"/>
          </a:solidFill>
          <a:ln w="9525">
            <a:solidFill>
              <a:srgbClr val="D8E0D2"/>
            </a:solidFill>
            <a:prstDash val="solid"/>
          </a:ln>
          <a:effectLst>
            <a:outerShdw sx="100000" sy="100000" kx="0" ky="0" algn="bl" rotWithShape="0" blurRad="76200" dist="25400" dir="5400000">
              <a:srgbClr val="BBBBBB">
                <a:alpha val="28000"/>
              </a:srgbClr>
            </a:outerShdw>
          </a:effectLst>
        </p:spPr>
      </p:sp>
      <p:sp>
        <p:nvSpPr>
          <p:cNvPr id="41" name="Shape 31"/>
          <p:cNvSpPr/>
          <p:nvPr/>
        </p:nvSpPr>
        <p:spPr>
          <a:xfrm>
            <a:off x="6556248" y="5257800"/>
            <a:ext cx="530352" cy="530352"/>
          </a:xfrm>
          <a:prstGeom prst="ellipse">
            <a:avLst/>
          </a:prstGeom>
          <a:solidFill>
            <a:srgbClr val="F2AD32"/>
          </a:solidFill>
          <a:ln/>
        </p:spPr>
      </p:sp>
      <p:pic>
        <p:nvPicPr>
          <p:cNvPr id="42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694140" y="5395692"/>
            <a:ext cx="254569" cy="254569"/>
          </a:xfrm>
          <a:prstGeom prst="rect">
            <a:avLst/>
          </a:prstGeom>
        </p:spPr>
      </p:pic>
      <p:sp>
        <p:nvSpPr>
          <p:cNvPr id="43" name="Text 32"/>
          <p:cNvSpPr txBox="1"/>
          <p:nvPr/>
        </p:nvSpPr>
        <p:spPr>
          <a:xfrm>
            <a:off x="7269480" y="5138928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A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film to Prototype Phase</a:t>
            </a:r>
            <a:endParaRPr lang="en-US" sz="1500" dirty="0"/>
          </a:p>
        </p:txBody>
      </p:sp>
      <p:sp>
        <p:nvSpPr>
          <p:cNvPr id="44" name="Text 33"/>
          <p:cNvSpPr txBox="1"/>
          <p:nvPr/>
        </p:nvSpPr>
        <p:spPr>
          <a:xfrm>
            <a:off x="7269480" y="5504688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E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Designing a bio-pedagogical workshop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332720" y="644652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26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5720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097280" y="420624"/>
            <a:ext cx="10424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4E9A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FILM AT A GLANCE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1097280" y="658368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A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choir that changes everything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1600200"/>
            <a:ext cx="59436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550" dirty="0">
                <a:solidFill>
                  <a:srgbClr val="2B2A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France, 1949. Clément Mathieu, an unemployed musician, becomes a supervisor at “Fond de l’Étang”, a bleak boarding school for difficult boys. The headmaster, Rachin, rules through the motto “action – reaction”: surveillance and punishment. Mathieu chooses another path — he forms a choir, discovers Pierre Morhange’s remarkable voice, and gradually turns fear into trust, participation and hope.</a:t>
            </a:r>
            <a:endParaRPr lang="en-US" sz="1550" dirty="0"/>
          </a:p>
        </p:txBody>
      </p:sp>
      <p:sp>
        <p:nvSpPr>
          <p:cNvPr id="6" name="Shape 3"/>
          <p:cNvSpPr/>
          <p:nvPr/>
        </p:nvSpPr>
        <p:spPr>
          <a:xfrm>
            <a:off x="502920" y="4709160"/>
            <a:ext cx="5943600" cy="1325880"/>
          </a:xfrm>
          <a:prstGeom prst="roundRect">
            <a:avLst>
              <a:gd name="adj" fmla="val 6897"/>
            </a:avLst>
          </a:prstGeom>
          <a:solidFill>
            <a:srgbClr val="EDF4E7"/>
          </a:solidFill>
          <a:ln w="9525">
            <a:solidFill>
              <a:srgbClr val="D8E0D2"/>
            </a:solidFill>
            <a:prstDash val="solid"/>
          </a:ln>
          <a:effectLst>
            <a:outerShdw sx="100000" sy="100000" kx="0" ky="0" algn="bl" rotWithShape="0" blurRad="76200" dist="25400" dir="5400000">
              <a:srgbClr val="BBBBBB">
                <a:alpha val="28000"/>
              </a:srgbClr>
            </a:outerShdw>
          </a:effectLst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4892040"/>
            <a:ext cx="384048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234440" y="4846320"/>
            <a:ext cx="5029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rgbClr val="1F5E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“Never say never. There is always something to try.”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1234440" y="553212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E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Clément Mathieu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6766560" y="1600200"/>
            <a:ext cx="4937760" cy="1078992"/>
          </a:xfrm>
          <a:prstGeom prst="roundRect">
            <a:avLst>
              <a:gd name="adj" fmla="val 8475"/>
            </a:avLst>
          </a:prstGeom>
          <a:solidFill>
            <a:srgbClr val="EDF4E7"/>
          </a:solidFill>
          <a:ln w="9525">
            <a:solidFill>
              <a:srgbClr val="D8E0D2"/>
            </a:solidFill>
            <a:prstDash val="solid"/>
          </a:ln>
          <a:effectLst>
            <a:outerShdw sx="100000" sy="100000" kx="0" ky="0" algn="bl" rotWithShape="0" blurRad="76200" dist="25400" dir="5400000">
              <a:srgbClr val="BBBBBB">
                <a:alpha val="28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6986016" y="1874520"/>
            <a:ext cx="530352" cy="530352"/>
          </a:xfrm>
          <a:prstGeom prst="ellipse">
            <a:avLst/>
          </a:prstGeom>
          <a:solidFill>
            <a:srgbClr val="4E9A3E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23908" y="2012412"/>
            <a:ext cx="254569" cy="254569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699248" y="174650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A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Setting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7699248" y="2093976"/>
            <a:ext cx="3794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E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repressive boarding school, post-war France (1949)</a:t>
            </a:r>
            <a:endParaRPr lang="en-US" sz="1150" dirty="0"/>
          </a:p>
        </p:txBody>
      </p:sp>
      <p:sp>
        <p:nvSpPr>
          <p:cNvPr id="15" name="Shape 10"/>
          <p:cNvSpPr/>
          <p:nvPr/>
        </p:nvSpPr>
        <p:spPr>
          <a:xfrm>
            <a:off x="6766560" y="2743200"/>
            <a:ext cx="4937760" cy="1078992"/>
          </a:xfrm>
          <a:prstGeom prst="roundRect">
            <a:avLst>
              <a:gd name="adj" fmla="val 8475"/>
            </a:avLst>
          </a:prstGeom>
          <a:solidFill>
            <a:srgbClr val="FBF2DD"/>
          </a:solidFill>
          <a:ln w="9525">
            <a:solidFill>
              <a:srgbClr val="D8E0D2"/>
            </a:solidFill>
            <a:prstDash val="solid"/>
          </a:ln>
          <a:effectLst>
            <a:outerShdw sx="100000" sy="100000" kx="0" ky="0" algn="bl" rotWithShape="0" blurRad="76200" dist="25400" dir="5400000">
              <a:srgbClr val="BBBBBB">
                <a:alpha val="28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6986016" y="3017520"/>
            <a:ext cx="530352" cy="530352"/>
          </a:xfrm>
          <a:prstGeom prst="ellipse">
            <a:avLst/>
          </a:prstGeom>
          <a:solidFill>
            <a:srgbClr val="F2AD32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3908" y="3155412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699248" y="288950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A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Protagonist</a:t>
            </a:r>
            <a:endParaRPr lang="en-US" sz="1500" dirty="0"/>
          </a:p>
        </p:txBody>
      </p:sp>
      <p:sp>
        <p:nvSpPr>
          <p:cNvPr id="19" name="Text 13"/>
          <p:cNvSpPr txBox="1"/>
          <p:nvPr/>
        </p:nvSpPr>
        <p:spPr>
          <a:xfrm>
            <a:off x="7699248" y="3236976"/>
            <a:ext cx="3794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E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Clément Mathieu — teacher as mediator, not warden</a:t>
            </a:r>
            <a:endParaRPr lang="en-US" sz="1150" dirty="0"/>
          </a:p>
        </p:txBody>
      </p:sp>
      <p:sp>
        <p:nvSpPr>
          <p:cNvPr id="20" name="Shape 14"/>
          <p:cNvSpPr/>
          <p:nvPr/>
        </p:nvSpPr>
        <p:spPr>
          <a:xfrm>
            <a:off x="6766560" y="3886200"/>
            <a:ext cx="4937760" cy="1078992"/>
          </a:xfrm>
          <a:prstGeom prst="roundRect">
            <a:avLst>
              <a:gd name="adj" fmla="val 8475"/>
            </a:avLst>
          </a:prstGeom>
          <a:solidFill>
            <a:srgbClr val="EDF4E7"/>
          </a:solidFill>
          <a:ln w="9525">
            <a:solidFill>
              <a:srgbClr val="D8E0D2"/>
            </a:solidFill>
            <a:prstDash val="solid"/>
          </a:ln>
          <a:effectLst>
            <a:outerShdw sx="100000" sy="100000" kx="0" ky="0" algn="bl" rotWithShape="0" blurRad="76200" dist="25400" dir="5400000">
              <a:srgbClr val="BBBBBB">
                <a:alpha val="28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6986016" y="4160520"/>
            <a:ext cx="530352" cy="530352"/>
          </a:xfrm>
          <a:prstGeom prst="ellipse">
            <a:avLst/>
          </a:prstGeom>
          <a:solidFill>
            <a:srgbClr val="4E9A3E"/>
          </a:solidFill>
          <a:ln/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23908" y="4298412"/>
            <a:ext cx="254569" cy="254569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7699248" y="403250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A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Conflict</a:t>
            </a:r>
            <a:endParaRPr lang="en-US" sz="1500" dirty="0"/>
          </a:p>
        </p:txBody>
      </p:sp>
      <p:sp>
        <p:nvSpPr>
          <p:cNvPr id="24" name="Text 17"/>
          <p:cNvSpPr txBox="1"/>
          <p:nvPr/>
        </p:nvSpPr>
        <p:spPr>
          <a:xfrm>
            <a:off x="7699248" y="4379976"/>
            <a:ext cx="3794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E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Discipline by fear vs. education through relationship</a:t>
            </a:r>
            <a:endParaRPr lang="en-US" sz="1150" dirty="0"/>
          </a:p>
        </p:txBody>
      </p:sp>
      <p:sp>
        <p:nvSpPr>
          <p:cNvPr id="25" name="Shape 18"/>
          <p:cNvSpPr/>
          <p:nvPr/>
        </p:nvSpPr>
        <p:spPr>
          <a:xfrm>
            <a:off x="6766560" y="5029200"/>
            <a:ext cx="4937760" cy="1078992"/>
          </a:xfrm>
          <a:prstGeom prst="roundRect">
            <a:avLst>
              <a:gd name="adj" fmla="val 8475"/>
            </a:avLst>
          </a:prstGeom>
          <a:solidFill>
            <a:srgbClr val="FBF2DD"/>
          </a:solidFill>
          <a:ln w="9525">
            <a:solidFill>
              <a:srgbClr val="D8E0D2"/>
            </a:solidFill>
            <a:prstDash val="solid"/>
          </a:ln>
          <a:effectLst>
            <a:outerShdw sx="100000" sy="100000" kx="0" ky="0" algn="bl" rotWithShape="0" blurRad="76200" dist="25400" dir="5400000">
              <a:srgbClr val="BBBBBB">
                <a:alpha val="28000"/>
              </a:srgbClr>
            </a:outerShdw>
          </a:effectLst>
        </p:spPr>
      </p:sp>
      <p:sp>
        <p:nvSpPr>
          <p:cNvPr id="26" name="Shape 19"/>
          <p:cNvSpPr/>
          <p:nvPr/>
        </p:nvSpPr>
        <p:spPr>
          <a:xfrm>
            <a:off x="6986016" y="5303520"/>
            <a:ext cx="530352" cy="530352"/>
          </a:xfrm>
          <a:prstGeom prst="ellipse">
            <a:avLst/>
          </a:prstGeom>
          <a:solidFill>
            <a:srgbClr val="F2AD32"/>
          </a:solidFill>
          <a:ln/>
        </p:spPr>
      </p:sp>
      <p:pic>
        <p:nvPicPr>
          <p:cNvPr id="2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23908" y="5441412"/>
            <a:ext cx="254569" cy="254569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7699248" y="517550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A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Turning point</a:t>
            </a:r>
            <a:endParaRPr lang="en-US" sz="1500" dirty="0"/>
          </a:p>
        </p:txBody>
      </p:sp>
      <p:sp>
        <p:nvSpPr>
          <p:cNvPr id="29" name="Text 21"/>
          <p:cNvSpPr txBox="1"/>
          <p:nvPr/>
        </p:nvSpPr>
        <p:spPr>
          <a:xfrm>
            <a:off x="7699248" y="5522976"/>
            <a:ext cx="3794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E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choir: voice, belonging and emotional change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332720" y="644652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26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5720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097280" y="420624"/>
            <a:ext cx="10424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4E9A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MODELS OF PEDAGOGY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1097280" y="658368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A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“action – reaction” to mediation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502920" y="1600200"/>
            <a:ext cx="5440680" cy="3977640"/>
          </a:xfrm>
          <a:prstGeom prst="roundRect">
            <a:avLst>
              <a:gd name="adj" fmla="val 2299"/>
            </a:avLst>
          </a:prstGeom>
          <a:solidFill>
            <a:srgbClr val="F6EAE7"/>
          </a:solidFill>
          <a:ln w="12700">
            <a:solidFill>
              <a:srgbClr val="E3C9C2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02920" y="1600200"/>
            <a:ext cx="5440680" cy="868680"/>
          </a:xfrm>
          <a:prstGeom prst="roundRect">
            <a:avLst>
              <a:gd name="adj" fmla="val 10526"/>
            </a:avLst>
          </a:prstGeom>
          <a:solidFill>
            <a:srgbClr val="9E4B3B"/>
          </a:solidFill>
          <a:ln/>
        </p:spPr>
      </p:sp>
      <p:sp>
        <p:nvSpPr>
          <p:cNvPr id="7" name="Shape 4"/>
          <p:cNvSpPr/>
          <p:nvPr/>
        </p:nvSpPr>
        <p:spPr>
          <a:xfrm>
            <a:off x="502920" y="2103120"/>
            <a:ext cx="5440680" cy="365760"/>
          </a:xfrm>
          <a:prstGeom prst="rect">
            <a:avLst/>
          </a:prstGeom>
          <a:solidFill>
            <a:srgbClr val="9E4B3B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685800" y="1709928"/>
            <a:ext cx="5074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Rachin — Control &amp; Punishment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2697480"/>
            <a:ext cx="493776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5A3C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“Action – reaction”: every fault met with punishment</a:t>
            </a:r>
            <a:endParaRPr lang="en-US" sz="1350" dirty="0"/>
          </a:p>
          <a:p>
            <a:pPr algn="l" marL="203200" indent="-2032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5A3C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Fear, surveillance and silence as method</a:t>
            </a:r>
            <a:endParaRPr lang="en-US" sz="1350" dirty="0"/>
          </a:p>
          <a:p>
            <a:pPr algn="l" marL="203200" indent="-2032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5A3C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Extrinsic threat; motivation imposed from outside</a:t>
            </a:r>
            <a:endParaRPr lang="en-US" sz="1350" dirty="0"/>
          </a:p>
          <a:p>
            <a:pPr algn="l" marL="203200" indent="-2032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5A3C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student is a problem to be contained</a:t>
            </a:r>
            <a:endParaRPr lang="en-US" sz="1350" dirty="0"/>
          </a:p>
          <a:p>
            <a:pPr algn="l" marL="203200" indent="-2032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5A3C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Exclusion and humiliation; no voice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355080" y="1600200"/>
            <a:ext cx="5440680" cy="3977640"/>
          </a:xfrm>
          <a:prstGeom prst="roundRect">
            <a:avLst>
              <a:gd name="adj" fmla="val 2299"/>
            </a:avLst>
          </a:prstGeom>
          <a:solidFill>
            <a:srgbClr val="EDF4E7"/>
          </a:solidFill>
          <a:ln w="12700">
            <a:solidFill>
              <a:srgbClr val="C7DCBB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355080" y="1600200"/>
            <a:ext cx="5440680" cy="868680"/>
          </a:xfrm>
          <a:prstGeom prst="roundRect">
            <a:avLst>
              <a:gd name="adj" fmla="val 10526"/>
            </a:avLst>
          </a:prstGeom>
          <a:solidFill>
            <a:srgbClr val="4E9A3E"/>
          </a:solidFill>
          <a:ln/>
        </p:spPr>
      </p:sp>
      <p:sp>
        <p:nvSpPr>
          <p:cNvPr id="12" name="Shape 9"/>
          <p:cNvSpPr/>
          <p:nvPr/>
        </p:nvSpPr>
        <p:spPr>
          <a:xfrm>
            <a:off x="6355080" y="2103120"/>
            <a:ext cx="5440680" cy="365760"/>
          </a:xfrm>
          <a:prstGeom prst="rect">
            <a:avLst/>
          </a:prstGeom>
          <a:solidFill>
            <a:srgbClr val="4E9A3E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537960" y="1709928"/>
            <a:ext cx="5074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Mathieu — Mediation &amp; Care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6629400" y="2697480"/>
            <a:ext cx="493776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F5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Relationship first: trust, respect and encouragement</a:t>
            </a:r>
            <a:endParaRPr lang="en-US" sz="1350" dirty="0"/>
          </a:p>
          <a:p>
            <a:pPr algn="l" marL="203200" indent="-2032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F5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Emotional climate that reduces fear and anxiety</a:t>
            </a:r>
            <a:endParaRPr lang="en-US" sz="1350" dirty="0"/>
          </a:p>
          <a:p>
            <a:pPr algn="l" marL="203200" indent="-2032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F5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Intrinsic motivation born from meaningful activity</a:t>
            </a:r>
            <a:endParaRPr lang="en-US" sz="1350" dirty="0"/>
          </a:p>
          <a:p>
            <a:pPr algn="l" marL="203200" indent="-2032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F5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student is a person with talents to discover</a:t>
            </a:r>
            <a:endParaRPr lang="en-US" sz="1350" dirty="0"/>
          </a:p>
          <a:p>
            <a:pPr algn="l" marL="203200" indent="-2032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F5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Inclusion and voice — literally, through the choir</a:t>
            </a:r>
            <a:endParaRPr lang="en-US" sz="1350" dirty="0"/>
          </a:p>
        </p:txBody>
      </p:sp>
      <p:sp>
        <p:nvSpPr>
          <p:cNvPr id="15" name="Shape 12"/>
          <p:cNvSpPr/>
          <p:nvPr/>
        </p:nvSpPr>
        <p:spPr>
          <a:xfrm>
            <a:off x="502920" y="5669280"/>
            <a:ext cx="11201400" cy="566928"/>
          </a:xfrm>
          <a:prstGeom prst="roundRect">
            <a:avLst>
              <a:gd name="adj" fmla="val 50000"/>
            </a:avLst>
          </a:prstGeom>
          <a:solidFill>
            <a:srgbClr val="EDF4E7"/>
          </a:solidFill>
          <a:ln w="12700">
            <a:solidFill>
              <a:srgbClr val="4E9A3E"/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5788152"/>
            <a:ext cx="329184" cy="329184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123444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5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of hands:  </a:t>
            </a:r>
            <a:pPr algn="l" indent="0" marL="0">
              <a:buNone/>
            </a:pPr>
            <a:r>
              <a:rPr lang="en-US" sz="1400" dirty="0">
                <a:solidFill>
                  <a:srgbClr val="2B2A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classroom did YOU grow up in — and which one are you building?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332720" y="644652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26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2105742" y="910742"/>
            <a:ext cx="594360" cy="190195"/>
          </a:xfrm>
          <a:prstGeom prst="roundRect">
            <a:avLst>
              <a:gd name="adj" fmla="val 50000"/>
            </a:avLst>
          </a:prstGeom>
          <a:solidFill>
            <a:srgbClr val="F2AD32"/>
          </a:solidFill>
          <a:ln/>
        </p:spPr>
      </p:sp>
      <p:sp>
        <p:nvSpPr>
          <p:cNvPr id="3" name="Shape 1"/>
          <p:cNvSpPr/>
          <p:nvPr/>
        </p:nvSpPr>
        <p:spPr>
          <a:xfrm rot="1800000">
            <a:off x="11901891" y="1671523"/>
            <a:ext cx="594360" cy="190195"/>
          </a:xfrm>
          <a:prstGeom prst="roundRect">
            <a:avLst>
              <a:gd name="adj" fmla="val 50000"/>
            </a:avLst>
          </a:prstGeom>
          <a:solidFill>
            <a:srgbClr val="4E9A3E"/>
          </a:solidFill>
          <a:ln/>
        </p:spPr>
      </p:sp>
      <p:sp>
        <p:nvSpPr>
          <p:cNvPr id="4" name="Shape 2"/>
          <p:cNvSpPr/>
          <p:nvPr/>
        </p:nvSpPr>
        <p:spPr>
          <a:xfrm rot="3600000">
            <a:off x="11344961" y="2228453"/>
            <a:ext cx="594360" cy="190195"/>
          </a:xfrm>
          <a:prstGeom prst="roundRect">
            <a:avLst>
              <a:gd name="adj" fmla="val 50000"/>
            </a:avLst>
          </a:prstGeom>
          <a:solidFill>
            <a:srgbClr val="F2AD32"/>
          </a:solidFill>
          <a:ln/>
        </p:spPr>
      </p:sp>
      <p:sp>
        <p:nvSpPr>
          <p:cNvPr id="5" name="Shape 3"/>
          <p:cNvSpPr/>
          <p:nvPr/>
        </p:nvSpPr>
        <p:spPr>
          <a:xfrm rot="5400000">
            <a:off x="10584180" y="2432304"/>
            <a:ext cx="594360" cy="190195"/>
          </a:xfrm>
          <a:prstGeom prst="roundRect">
            <a:avLst>
              <a:gd name="adj" fmla="val 50000"/>
            </a:avLst>
          </a:prstGeom>
          <a:solidFill>
            <a:srgbClr val="4E9A3E"/>
          </a:solidFill>
          <a:ln/>
        </p:spPr>
      </p:sp>
      <p:sp>
        <p:nvSpPr>
          <p:cNvPr id="6" name="Shape 4"/>
          <p:cNvSpPr/>
          <p:nvPr/>
        </p:nvSpPr>
        <p:spPr>
          <a:xfrm rot="7200000">
            <a:off x="9823399" y="2228453"/>
            <a:ext cx="594360" cy="190195"/>
          </a:xfrm>
          <a:prstGeom prst="roundRect">
            <a:avLst>
              <a:gd name="adj" fmla="val 50000"/>
            </a:avLst>
          </a:prstGeom>
          <a:solidFill>
            <a:srgbClr val="F2AD32"/>
          </a:solidFill>
          <a:ln/>
        </p:spPr>
      </p:sp>
      <p:sp>
        <p:nvSpPr>
          <p:cNvPr id="7" name="Shape 5"/>
          <p:cNvSpPr/>
          <p:nvPr/>
        </p:nvSpPr>
        <p:spPr>
          <a:xfrm rot="9000000">
            <a:off x="9266469" y="1671523"/>
            <a:ext cx="594360" cy="190195"/>
          </a:xfrm>
          <a:prstGeom prst="roundRect">
            <a:avLst>
              <a:gd name="adj" fmla="val 50000"/>
            </a:avLst>
          </a:prstGeom>
          <a:solidFill>
            <a:srgbClr val="4E9A3E"/>
          </a:solidFill>
          <a:ln/>
        </p:spPr>
      </p:sp>
      <p:sp>
        <p:nvSpPr>
          <p:cNvPr id="8" name="Shape 6"/>
          <p:cNvSpPr/>
          <p:nvPr/>
        </p:nvSpPr>
        <p:spPr>
          <a:xfrm rot="10800000">
            <a:off x="9062618" y="910742"/>
            <a:ext cx="594360" cy="190195"/>
          </a:xfrm>
          <a:prstGeom prst="roundRect">
            <a:avLst>
              <a:gd name="adj" fmla="val 50000"/>
            </a:avLst>
          </a:prstGeom>
          <a:solidFill>
            <a:srgbClr val="F2AD32"/>
          </a:solidFill>
          <a:ln/>
        </p:spPr>
      </p:sp>
      <p:sp>
        <p:nvSpPr>
          <p:cNvPr id="9" name="Shape 7"/>
          <p:cNvSpPr/>
          <p:nvPr/>
        </p:nvSpPr>
        <p:spPr>
          <a:xfrm rot="12600000">
            <a:off x="9266469" y="149962"/>
            <a:ext cx="594360" cy="190195"/>
          </a:xfrm>
          <a:prstGeom prst="roundRect">
            <a:avLst>
              <a:gd name="adj" fmla="val 50000"/>
            </a:avLst>
          </a:prstGeom>
          <a:solidFill>
            <a:srgbClr val="4E9A3E"/>
          </a:solidFill>
          <a:ln/>
        </p:spPr>
      </p:sp>
      <p:sp>
        <p:nvSpPr>
          <p:cNvPr id="10" name="Shape 8"/>
          <p:cNvSpPr/>
          <p:nvPr/>
        </p:nvSpPr>
        <p:spPr>
          <a:xfrm rot="14400000">
            <a:off x="9823399" y="-406969"/>
            <a:ext cx="594360" cy="190195"/>
          </a:xfrm>
          <a:prstGeom prst="roundRect">
            <a:avLst>
              <a:gd name="adj" fmla="val 50000"/>
            </a:avLst>
          </a:prstGeom>
          <a:solidFill>
            <a:srgbClr val="F2AD32"/>
          </a:solidFill>
          <a:ln/>
        </p:spPr>
      </p:sp>
      <p:sp>
        <p:nvSpPr>
          <p:cNvPr id="11" name="Shape 9"/>
          <p:cNvSpPr/>
          <p:nvPr/>
        </p:nvSpPr>
        <p:spPr>
          <a:xfrm rot="16200000">
            <a:off x="10584180" y="-610819"/>
            <a:ext cx="594360" cy="190195"/>
          </a:xfrm>
          <a:prstGeom prst="roundRect">
            <a:avLst>
              <a:gd name="adj" fmla="val 50000"/>
            </a:avLst>
          </a:prstGeom>
          <a:solidFill>
            <a:srgbClr val="4E9A3E"/>
          </a:solidFill>
          <a:ln/>
        </p:spPr>
      </p:sp>
      <p:sp>
        <p:nvSpPr>
          <p:cNvPr id="12" name="Shape 10"/>
          <p:cNvSpPr/>
          <p:nvPr/>
        </p:nvSpPr>
        <p:spPr>
          <a:xfrm rot="18000000">
            <a:off x="11344961" y="-406969"/>
            <a:ext cx="594360" cy="190195"/>
          </a:xfrm>
          <a:prstGeom prst="roundRect">
            <a:avLst>
              <a:gd name="adj" fmla="val 50000"/>
            </a:avLst>
          </a:prstGeom>
          <a:solidFill>
            <a:srgbClr val="F2AD32"/>
          </a:solidFill>
          <a:ln/>
        </p:spPr>
      </p:sp>
      <p:sp>
        <p:nvSpPr>
          <p:cNvPr id="13" name="Shape 11"/>
          <p:cNvSpPr/>
          <p:nvPr/>
        </p:nvSpPr>
        <p:spPr>
          <a:xfrm rot="19800000">
            <a:off x="11901891" y="149962"/>
            <a:ext cx="594360" cy="190195"/>
          </a:xfrm>
          <a:prstGeom prst="roundRect">
            <a:avLst>
              <a:gd name="adj" fmla="val 50000"/>
            </a:avLst>
          </a:prstGeom>
          <a:solidFill>
            <a:srgbClr val="4E9A3E"/>
          </a:solidFill>
          <a:ln/>
        </p:spPr>
      </p:sp>
      <p:sp>
        <p:nvSpPr>
          <p:cNvPr id="14" name="Shape 12"/>
          <p:cNvSpPr/>
          <p:nvPr/>
        </p:nvSpPr>
        <p:spPr>
          <a:xfrm>
            <a:off x="9692640" y="-182880"/>
            <a:ext cx="2377440" cy="2377440"/>
          </a:xfrm>
          <a:prstGeom prst="ellipse">
            <a:avLst/>
          </a:prstGeom>
          <a:solidFill>
            <a:srgbClr val="4E9A3E"/>
          </a:solidFill>
          <a:ln/>
        </p:spPr>
      </p:sp>
      <p:sp>
        <p:nvSpPr>
          <p:cNvPr id="15" name="Shape 13"/>
          <p:cNvSpPr/>
          <p:nvPr/>
        </p:nvSpPr>
        <p:spPr>
          <a:xfrm>
            <a:off x="10144354" y="268834"/>
            <a:ext cx="1474013" cy="1474013"/>
          </a:xfrm>
          <a:prstGeom prst="ellipse">
            <a:avLst/>
          </a:prstGeom>
          <a:solidFill>
            <a:srgbClr val="F2AD32"/>
          </a:solidFill>
          <a:ln/>
        </p:spPr>
      </p:sp>
      <p:sp>
        <p:nvSpPr>
          <p:cNvPr id="16" name="Shape 14"/>
          <p:cNvSpPr/>
          <p:nvPr/>
        </p:nvSpPr>
        <p:spPr>
          <a:xfrm>
            <a:off x="10643616" y="601675"/>
            <a:ext cx="475488" cy="47548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7" name="Shape 15"/>
          <p:cNvSpPr/>
          <p:nvPr/>
        </p:nvSpPr>
        <p:spPr>
          <a:xfrm>
            <a:off x="10382098" y="910742"/>
            <a:ext cx="998525" cy="832104"/>
          </a:xfrm>
          <a:prstGeom prst="chord">
            <a:avLst>
              <a:gd name="adj1" fmla="val 10800000"/>
              <a:gd name="adj2" fmla="val 21600000"/>
            </a:avLst>
          </a:prstGeom>
          <a:solidFill>
            <a:srgbClr val="FFFFF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40080" y="25146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400" kern="0" dirty="0">
                <a:solidFill>
                  <a:srgbClr val="F2A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II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594360" y="2880360"/>
            <a:ext cx="10515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the film through</a:t>
            </a:r>
            <a:endParaRPr lang="en-US" sz="44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references</a:t>
            </a:r>
            <a:endParaRPr lang="en-US" sz="4400" dirty="0"/>
          </a:p>
        </p:txBody>
      </p:sp>
      <p:sp>
        <p:nvSpPr>
          <p:cNvPr id="20" name="Text 18"/>
          <p:cNvSpPr txBox="1"/>
          <p:nvPr/>
        </p:nvSpPr>
        <p:spPr>
          <a:xfrm>
            <a:off x="640080" y="4709160"/>
            <a:ext cx="8686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D9E8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lenses — mediation, emotional climate, positive emotions and motivation, values — connect the story to the bibliography of Challenge 3.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5720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097280" y="420624"/>
            <a:ext cx="10424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4E9A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PÉREZ-CÁRDENAS (2021)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1097280" y="658368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A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Bio-pedagogical mediation &amp; transcendental change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502920" y="1572768"/>
            <a:ext cx="11201400" cy="1097280"/>
          </a:xfrm>
          <a:prstGeom prst="roundRect">
            <a:avLst>
              <a:gd name="adj" fmla="val 8333"/>
            </a:avLst>
          </a:prstGeom>
          <a:solidFill>
            <a:srgbClr val="EDF4E7"/>
          </a:solidFill>
          <a:ln w="9525">
            <a:solidFill>
              <a:srgbClr val="D8E0D2"/>
            </a:solidFill>
            <a:prstDash val="solid"/>
          </a:ln>
          <a:effectLst>
            <a:outerShdw sx="100000" sy="100000" kx="0" ky="0" algn="bl" rotWithShape="0" blurRad="76200" dist="25400" dir="5400000">
              <a:srgbClr val="BBBBBB">
                <a:alpha val="28000"/>
              </a:srgbClr>
            </a:outerShdw>
          </a:effectLst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783080"/>
            <a:ext cx="365760" cy="36576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234440" y="1664208"/>
            <a:ext cx="10241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i="1" dirty="0">
                <a:solidFill>
                  <a:srgbClr val="1F5E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Pedagogical mediation and key bio-pedagogical traits can drive transcendental changes in TEFL practice — teaching becomes an act of mediation and care, not mere transmission of content.</a:t>
            </a:r>
            <a:endParaRPr lang="en-US" sz="1550" dirty="0"/>
          </a:p>
        </p:txBody>
      </p:sp>
      <p:sp>
        <p:nvSpPr>
          <p:cNvPr id="8" name="Text 4"/>
          <p:cNvSpPr txBox="1"/>
          <p:nvPr/>
        </p:nvSpPr>
        <p:spPr>
          <a:xfrm>
            <a:off x="502920" y="285292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4E9A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BIO-PEDAGOGICAL TRAITS EMBODIED BY MATHIEU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502920" y="3200400"/>
            <a:ext cx="361188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8E0D2"/>
            </a:solidFill>
            <a:prstDash val="solid"/>
          </a:ln>
          <a:effectLst>
            <a:outerShdw sx="100000" sy="100000" kx="0" ky="0" algn="bl" rotWithShape="0" blurRad="76200" dist="25400" dir="5400000">
              <a:srgbClr val="BBBBBB">
                <a:alpha val="28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731520" y="3438144"/>
            <a:ext cx="548640" cy="548640"/>
          </a:xfrm>
          <a:prstGeom prst="ellipse">
            <a:avLst/>
          </a:prstGeom>
          <a:solidFill>
            <a:srgbClr val="4E9A3E"/>
          </a:solidFill>
          <a:ln/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4166" y="3580790"/>
            <a:ext cx="263347" cy="263347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399032" y="3401568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2B2A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Care &amp; affect</a:t>
            </a:r>
            <a:endParaRPr lang="en-US" sz="1450" dirty="0"/>
          </a:p>
        </p:txBody>
      </p:sp>
      <p:sp>
        <p:nvSpPr>
          <p:cNvPr id="13" name="Text 8"/>
          <p:cNvSpPr txBox="1"/>
          <p:nvPr/>
        </p:nvSpPr>
        <p:spPr>
          <a:xfrm>
            <a:off x="758952" y="4041648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E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warm, protective bond replaces fear</a:t>
            </a:r>
            <a:endParaRPr lang="en-US" sz="1150" dirty="0"/>
          </a:p>
        </p:txBody>
      </p:sp>
      <p:sp>
        <p:nvSpPr>
          <p:cNvPr id="14" name="Shape 9"/>
          <p:cNvSpPr/>
          <p:nvPr/>
        </p:nvSpPr>
        <p:spPr>
          <a:xfrm>
            <a:off x="4297680" y="3200400"/>
            <a:ext cx="361188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8E0D2"/>
            </a:solidFill>
            <a:prstDash val="solid"/>
          </a:ln>
          <a:effectLst>
            <a:outerShdw sx="100000" sy="100000" kx="0" ky="0" algn="bl" rotWithShape="0" blurRad="76200" dist="25400" dir="5400000">
              <a:srgbClr val="BBBBBB">
                <a:alpha val="28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4526280" y="3438144"/>
            <a:ext cx="548640" cy="548640"/>
          </a:xfrm>
          <a:prstGeom prst="ellipse">
            <a:avLst/>
          </a:prstGeom>
          <a:solidFill>
            <a:srgbClr val="F2AD32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8926" y="3580790"/>
            <a:ext cx="263347" cy="263347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5193792" y="3401568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2B2A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Relational presence</a:t>
            </a:r>
            <a:endParaRPr lang="en-US" sz="1450" dirty="0"/>
          </a:p>
        </p:txBody>
      </p:sp>
      <p:sp>
        <p:nvSpPr>
          <p:cNvPr id="18" name="Text 12"/>
          <p:cNvSpPr txBox="1"/>
          <p:nvPr/>
        </p:nvSpPr>
        <p:spPr>
          <a:xfrm>
            <a:off x="4553712" y="4041648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E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is fully present with learners</a:t>
            </a:r>
            <a:endParaRPr lang="en-US" sz="1150" dirty="0"/>
          </a:p>
        </p:txBody>
      </p:sp>
      <p:sp>
        <p:nvSpPr>
          <p:cNvPr id="19" name="Shape 13"/>
          <p:cNvSpPr/>
          <p:nvPr/>
        </p:nvSpPr>
        <p:spPr>
          <a:xfrm>
            <a:off x="8092440" y="3200400"/>
            <a:ext cx="361188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8E0D2"/>
            </a:solidFill>
            <a:prstDash val="solid"/>
          </a:ln>
          <a:effectLst>
            <a:outerShdw sx="100000" sy="100000" kx="0" ky="0" algn="bl" rotWithShape="0" blurRad="76200" dist="25400" dir="5400000">
              <a:srgbClr val="BBBBBB">
                <a:alpha val="28000"/>
              </a:srgbClr>
            </a:outerShdw>
          </a:effectLst>
        </p:spPr>
      </p:sp>
      <p:sp>
        <p:nvSpPr>
          <p:cNvPr id="20" name="Shape 14"/>
          <p:cNvSpPr/>
          <p:nvPr/>
        </p:nvSpPr>
        <p:spPr>
          <a:xfrm>
            <a:off x="8321040" y="3438144"/>
            <a:ext cx="548640" cy="548640"/>
          </a:xfrm>
          <a:prstGeom prst="ellipse">
            <a:avLst/>
          </a:prstGeom>
          <a:solidFill>
            <a:srgbClr val="4E9A3E"/>
          </a:solidFill>
          <a:ln/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63686" y="3580790"/>
            <a:ext cx="263347" cy="263347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8988552" y="3401568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2B2A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Mediation, not transmission</a:t>
            </a:r>
            <a:endParaRPr lang="en-US" sz="1450" dirty="0"/>
          </a:p>
        </p:txBody>
      </p:sp>
      <p:sp>
        <p:nvSpPr>
          <p:cNvPr id="23" name="Text 16"/>
          <p:cNvSpPr txBox="1"/>
          <p:nvPr/>
        </p:nvSpPr>
        <p:spPr>
          <a:xfrm>
            <a:off x="8348472" y="4041648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E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Guiding discovery instead of imposing</a:t>
            </a:r>
            <a:endParaRPr lang="en-US" sz="1150" dirty="0"/>
          </a:p>
        </p:txBody>
      </p:sp>
      <p:sp>
        <p:nvSpPr>
          <p:cNvPr id="24" name="Shape 17"/>
          <p:cNvSpPr/>
          <p:nvPr/>
        </p:nvSpPr>
        <p:spPr>
          <a:xfrm>
            <a:off x="502920" y="4736592"/>
            <a:ext cx="361188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8E0D2"/>
            </a:solidFill>
            <a:prstDash val="solid"/>
          </a:ln>
          <a:effectLst>
            <a:outerShdw sx="100000" sy="100000" kx="0" ky="0" algn="bl" rotWithShape="0" blurRad="76200" dist="25400" dir="5400000">
              <a:srgbClr val="BBBBBB">
                <a:alpha val="28000"/>
              </a:srgbClr>
            </a:outerShdw>
          </a:effectLst>
        </p:spPr>
      </p:sp>
      <p:sp>
        <p:nvSpPr>
          <p:cNvPr id="25" name="Shape 18"/>
          <p:cNvSpPr/>
          <p:nvPr/>
        </p:nvSpPr>
        <p:spPr>
          <a:xfrm>
            <a:off x="731520" y="4974336"/>
            <a:ext cx="548640" cy="548640"/>
          </a:xfrm>
          <a:prstGeom prst="ellipse">
            <a:avLst/>
          </a:prstGeom>
          <a:solidFill>
            <a:srgbClr val="F2AD32"/>
          </a:solidFill>
          <a:ln/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4166" y="5116982"/>
            <a:ext cx="263347" cy="263347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1399032" y="4937760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2B2A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Voice &amp; autonomy</a:t>
            </a:r>
            <a:endParaRPr lang="en-US" sz="1450" dirty="0"/>
          </a:p>
        </p:txBody>
      </p:sp>
      <p:sp>
        <p:nvSpPr>
          <p:cNvPr id="28" name="Text 20"/>
          <p:cNvSpPr txBox="1"/>
          <p:nvPr/>
        </p:nvSpPr>
        <p:spPr>
          <a:xfrm>
            <a:off x="758952" y="557784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E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boy finds his place in the choir</a:t>
            </a:r>
            <a:endParaRPr lang="en-US" sz="1150" dirty="0"/>
          </a:p>
        </p:txBody>
      </p:sp>
      <p:sp>
        <p:nvSpPr>
          <p:cNvPr id="29" name="Shape 21"/>
          <p:cNvSpPr/>
          <p:nvPr/>
        </p:nvSpPr>
        <p:spPr>
          <a:xfrm>
            <a:off x="4297680" y="4736592"/>
            <a:ext cx="361188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8E0D2"/>
            </a:solidFill>
            <a:prstDash val="solid"/>
          </a:ln>
          <a:effectLst>
            <a:outerShdw sx="100000" sy="100000" kx="0" ky="0" algn="bl" rotWithShape="0" blurRad="76200" dist="25400" dir="5400000">
              <a:srgbClr val="BBBBBB">
                <a:alpha val="28000"/>
              </a:srgbClr>
            </a:outerShdw>
          </a:effectLst>
        </p:spPr>
      </p:sp>
      <p:sp>
        <p:nvSpPr>
          <p:cNvPr id="30" name="Shape 22"/>
          <p:cNvSpPr/>
          <p:nvPr/>
        </p:nvSpPr>
        <p:spPr>
          <a:xfrm>
            <a:off x="4526280" y="4974336"/>
            <a:ext cx="548640" cy="548640"/>
          </a:xfrm>
          <a:prstGeom prst="ellipse">
            <a:avLst/>
          </a:prstGeom>
          <a:solidFill>
            <a:srgbClr val="4E9A3E"/>
          </a:solidFill>
          <a:ln/>
        </p:spPr>
      </p:sp>
      <p:pic>
        <p:nvPicPr>
          <p:cNvPr id="3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68926" y="5116982"/>
            <a:ext cx="263347" cy="263347"/>
          </a:xfrm>
          <a:prstGeom prst="rect">
            <a:avLst/>
          </a:prstGeom>
        </p:spPr>
      </p:pic>
      <p:sp>
        <p:nvSpPr>
          <p:cNvPr id="32" name="Text 23"/>
          <p:cNvSpPr txBox="1"/>
          <p:nvPr/>
        </p:nvSpPr>
        <p:spPr>
          <a:xfrm>
            <a:off x="5193792" y="4937760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2B2A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Sentipensante life</a:t>
            </a:r>
            <a:endParaRPr lang="en-US" sz="1450" dirty="0"/>
          </a:p>
        </p:txBody>
      </p:sp>
      <p:sp>
        <p:nvSpPr>
          <p:cNvPr id="33" name="Text 24"/>
          <p:cNvSpPr txBox="1"/>
          <p:nvPr/>
        </p:nvSpPr>
        <p:spPr>
          <a:xfrm>
            <a:off x="4553712" y="557784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E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Thinking and feeling educated together</a:t>
            </a:r>
            <a:endParaRPr lang="en-US" sz="1150" dirty="0"/>
          </a:p>
        </p:txBody>
      </p:sp>
      <p:sp>
        <p:nvSpPr>
          <p:cNvPr id="34" name="Shape 25"/>
          <p:cNvSpPr/>
          <p:nvPr/>
        </p:nvSpPr>
        <p:spPr>
          <a:xfrm>
            <a:off x="8092440" y="4736592"/>
            <a:ext cx="361188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8E0D2"/>
            </a:solidFill>
            <a:prstDash val="solid"/>
          </a:ln>
          <a:effectLst>
            <a:outerShdw sx="100000" sy="100000" kx="0" ky="0" algn="bl" rotWithShape="0" blurRad="76200" dist="25400" dir="5400000">
              <a:srgbClr val="BBBBBB">
                <a:alpha val="28000"/>
              </a:srgbClr>
            </a:outerShdw>
          </a:effectLst>
        </p:spPr>
      </p:sp>
      <p:sp>
        <p:nvSpPr>
          <p:cNvPr id="35" name="Shape 26"/>
          <p:cNvSpPr/>
          <p:nvPr/>
        </p:nvSpPr>
        <p:spPr>
          <a:xfrm>
            <a:off x="8321040" y="4974336"/>
            <a:ext cx="548640" cy="548640"/>
          </a:xfrm>
          <a:prstGeom prst="ellipse">
            <a:avLst/>
          </a:prstGeom>
          <a:solidFill>
            <a:srgbClr val="F2AD32"/>
          </a:solidFill>
          <a:ln/>
        </p:spPr>
      </p:sp>
      <p:pic>
        <p:nvPicPr>
          <p:cNvPr id="36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63686" y="5116982"/>
            <a:ext cx="263347" cy="263347"/>
          </a:xfrm>
          <a:prstGeom prst="rect">
            <a:avLst/>
          </a:prstGeom>
        </p:spPr>
      </p:pic>
      <p:sp>
        <p:nvSpPr>
          <p:cNvPr id="37" name="Text 27"/>
          <p:cNvSpPr txBox="1"/>
          <p:nvPr/>
        </p:nvSpPr>
        <p:spPr>
          <a:xfrm>
            <a:off x="8988552" y="4937760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2B2A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Transcendental change</a:t>
            </a:r>
            <a:endParaRPr lang="en-US" sz="1450" dirty="0"/>
          </a:p>
        </p:txBody>
      </p:sp>
      <p:sp>
        <p:nvSpPr>
          <p:cNvPr id="38" name="Text 28"/>
          <p:cNvSpPr txBox="1"/>
          <p:nvPr/>
        </p:nvSpPr>
        <p:spPr>
          <a:xfrm>
            <a:off x="8348472" y="557784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E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Lives — not just grades — are transformed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332720" y="644652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26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5720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097280" y="420624"/>
            <a:ext cx="10424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4E9A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EMOTIONAL CLIMATE OF LEARNING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1097280" y="658368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A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Relational presence transforms the classroom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15544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2B2A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Review Guide invites us to notice how emotional climate, relational presence and teacher mediation reshape learning. In the film these appear as concrete, observable moments.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02920" y="2331720"/>
            <a:ext cx="2697480" cy="3200400"/>
          </a:xfrm>
          <a:prstGeom prst="roundRect">
            <a:avLst>
              <a:gd name="adj" fmla="val 3390"/>
            </a:avLst>
          </a:prstGeom>
          <a:solidFill>
            <a:srgbClr val="EDF4E7"/>
          </a:solidFill>
          <a:ln w="9525">
            <a:solidFill>
              <a:srgbClr val="D8E0D2"/>
            </a:solidFill>
            <a:prstDash val="solid"/>
          </a:ln>
          <a:effectLst>
            <a:outerShdw sx="100000" sy="100000" kx="0" ky="0" algn="bl" rotWithShape="0" blurRad="76200" dist="25400" dir="5400000">
              <a:srgbClr val="BBBBBB">
                <a:alpha val="28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467612" y="2651760"/>
            <a:ext cx="768096" cy="768096"/>
          </a:xfrm>
          <a:prstGeom prst="ellipse">
            <a:avLst/>
          </a:prstGeom>
          <a:solidFill>
            <a:srgbClr val="4E9A3E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7317" y="2851465"/>
            <a:ext cx="368686" cy="36868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85800" y="356616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2B2A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Emotional resonance</a:t>
            </a:r>
            <a:endParaRPr lang="en-US" sz="1550" dirty="0"/>
          </a:p>
        </p:txBody>
      </p:sp>
      <p:sp>
        <p:nvSpPr>
          <p:cNvPr id="10" name="Text 6"/>
          <p:cNvSpPr txBox="1"/>
          <p:nvPr/>
        </p:nvSpPr>
        <p:spPr>
          <a:xfrm>
            <a:off x="722376" y="4251960"/>
            <a:ext cx="225856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6E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Music reaches the boys where discipline never could — feeling becomes the doorway to learning.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3355848" y="2331720"/>
            <a:ext cx="2697480" cy="3200400"/>
          </a:xfrm>
          <a:prstGeom prst="roundRect">
            <a:avLst>
              <a:gd name="adj" fmla="val 3390"/>
            </a:avLst>
          </a:prstGeom>
          <a:solidFill>
            <a:srgbClr val="FBF2DD"/>
          </a:solidFill>
          <a:ln w="9525">
            <a:solidFill>
              <a:srgbClr val="D8E0D2"/>
            </a:solidFill>
            <a:prstDash val="solid"/>
          </a:ln>
          <a:effectLst>
            <a:outerShdw sx="100000" sy="100000" kx="0" ky="0" algn="bl" rotWithShape="0" blurRad="76200" dist="25400" dir="5400000">
              <a:srgbClr val="BBBBBB">
                <a:alpha val="28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320540" y="2651760"/>
            <a:ext cx="768096" cy="768096"/>
          </a:xfrm>
          <a:prstGeom prst="ellipse">
            <a:avLst/>
          </a:prstGeom>
          <a:solidFill>
            <a:srgbClr val="F2AD32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0245" y="2851465"/>
            <a:ext cx="368686" cy="368686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3538728" y="356616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2B2A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Trust-building</a:t>
            </a:r>
            <a:endParaRPr lang="en-US" sz="1550" dirty="0"/>
          </a:p>
        </p:txBody>
      </p:sp>
      <p:sp>
        <p:nvSpPr>
          <p:cNvPr id="15" name="Text 10"/>
          <p:cNvSpPr txBox="1"/>
          <p:nvPr/>
        </p:nvSpPr>
        <p:spPr>
          <a:xfrm>
            <a:off x="3575304" y="4251960"/>
            <a:ext cx="225856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6E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Mathieu protects and believes in the boys; safety makes participation possible.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6208776" y="2331720"/>
            <a:ext cx="2697480" cy="3200400"/>
          </a:xfrm>
          <a:prstGeom prst="roundRect">
            <a:avLst>
              <a:gd name="adj" fmla="val 3390"/>
            </a:avLst>
          </a:prstGeom>
          <a:solidFill>
            <a:srgbClr val="EDF4E7"/>
          </a:solidFill>
          <a:ln w="9525">
            <a:solidFill>
              <a:srgbClr val="D8E0D2"/>
            </a:solidFill>
            <a:prstDash val="solid"/>
          </a:ln>
          <a:effectLst>
            <a:outerShdw sx="100000" sy="100000" kx="0" ky="0" algn="bl" rotWithShape="0" blurRad="76200" dist="25400" dir="5400000">
              <a:srgbClr val="BBBBBB">
                <a:alpha val="28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7173468" y="2651760"/>
            <a:ext cx="768096" cy="768096"/>
          </a:xfrm>
          <a:prstGeom prst="ellipse">
            <a:avLst/>
          </a:prstGeom>
          <a:solidFill>
            <a:srgbClr val="007AC8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73173" y="2851465"/>
            <a:ext cx="368686" cy="36868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391656" y="356616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2B2A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Embodied interaction</a:t>
            </a:r>
            <a:endParaRPr lang="en-US" sz="1550" dirty="0"/>
          </a:p>
        </p:txBody>
      </p:sp>
      <p:sp>
        <p:nvSpPr>
          <p:cNvPr id="20" name="Text 14"/>
          <p:cNvSpPr txBox="1"/>
          <p:nvPr/>
        </p:nvSpPr>
        <p:spPr>
          <a:xfrm>
            <a:off x="6428232" y="4251960"/>
            <a:ext cx="225856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6E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Gesture, voice and presence — learning is lived, not just explained.</a:t>
            </a:r>
            <a:endParaRPr lang="en-US" sz="1200" dirty="0"/>
          </a:p>
        </p:txBody>
      </p:sp>
      <p:sp>
        <p:nvSpPr>
          <p:cNvPr id="21" name="Shape 15"/>
          <p:cNvSpPr/>
          <p:nvPr/>
        </p:nvSpPr>
        <p:spPr>
          <a:xfrm>
            <a:off x="9061704" y="2331720"/>
            <a:ext cx="2697480" cy="3200400"/>
          </a:xfrm>
          <a:prstGeom prst="roundRect">
            <a:avLst>
              <a:gd name="adj" fmla="val 3390"/>
            </a:avLst>
          </a:prstGeom>
          <a:solidFill>
            <a:srgbClr val="FBF2DD"/>
          </a:solidFill>
          <a:ln w="9525">
            <a:solidFill>
              <a:srgbClr val="D8E0D2"/>
            </a:solidFill>
            <a:prstDash val="solid"/>
          </a:ln>
          <a:effectLst>
            <a:outerShdw sx="100000" sy="100000" kx="0" ky="0" algn="bl" rotWithShape="0" blurRad="76200" dist="25400" dir="5400000">
              <a:srgbClr val="BBBBBB">
                <a:alpha val="28000"/>
              </a:srgbClr>
            </a:outerShdw>
          </a:effectLst>
        </p:spPr>
      </p:sp>
      <p:sp>
        <p:nvSpPr>
          <p:cNvPr id="22" name="Shape 16"/>
          <p:cNvSpPr/>
          <p:nvPr/>
        </p:nvSpPr>
        <p:spPr>
          <a:xfrm>
            <a:off x="10026396" y="2651760"/>
            <a:ext cx="768096" cy="768096"/>
          </a:xfrm>
          <a:prstGeom prst="ellipse">
            <a:avLst/>
          </a:prstGeom>
          <a:solidFill>
            <a:srgbClr val="1F5E34"/>
          </a:solidFill>
          <a:ln/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26101" y="2851465"/>
            <a:ext cx="368686" cy="368686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9244584" y="356616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2B2A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Ecological change</a:t>
            </a:r>
            <a:endParaRPr lang="en-US" sz="1550" dirty="0"/>
          </a:p>
        </p:txBody>
      </p:sp>
      <p:sp>
        <p:nvSpPr>
          <p:cNvPr id="25" name="Text 18"/>
          <p:cNvSpPr txBox="1"/>
          <p:nvPr/>
        </p:nvSpPr>
        <p:spPr>
          <a:xfrm>
            <a:off x="9281160" y="4251960"/>
            <a:ext cx="225856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6E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the climate warms, the whole school ecosystem shifts toward hope.</a:t>
            </a:r>
            <a:endParaRPr lang="en-US" sz="1200" dirty="0"/>
          </a:p>
        </p:txBody>
      </p:sp>
      <p:sp>
        <p:nvSpPr>
          <p:cNvPr id="26" name="Text 19"/>
          <p:cNvSpPr txBox="1"/>
          <p:nvPr/>
        </p:nvSpPr>
        <p:spPr>
          <a:xfrm>
            <a:off x="502920" y="571500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1F5E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“The emotional tone of a workshop shapes engagement as much as its content.”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332720" y="644652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26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5720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097280" y="420624"/>
            <a:ext cx="10424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4E9A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MACINTYRE &amp; GREGERSEN (2012)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1097280" y="658368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A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Positive emotions broaden &amp; build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1554480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2B2A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 emotions broaden learners’ cognitive and behavioural possibilities and, over time, build lasting personal resources. Imagination widens what learners believe they can do.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02920" y="2423160"/>
            <a:ext cx="324612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8E0D2"/>
            </a:solidFill>
            <a:prstDash val="solid"/>
          </a:ln>
          <a:effectLst>
            <a:outerShdw sx="100000" sy="100000" kx="0" ky="0" algn="bl" rotWithShape="0" blurRad="76200" dist="25400" dir="5400000">
              <a:srgbClr val="BBBBBB">
                <a:alpha val="28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760220" y="2697480"/>
            <a:ext cx="731520" cy="731520"/>
          </a:xfrm>
          <a:prstGeom prst="ellipse">
            <a:avLst/>
          </a:prstGeom>
          <a:solidFill>
            <a:srgbClr val="4E9A3E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0415" y="2887675"/>
            <a:ext cx="351130" cy="35113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85800" y="352044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B2A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Positive emotion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731520" y="3977640"/>
            <a:ext cx="2788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E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Joy, pride and hope in the choir</a:t>
            </a:r>
            <a:endParaRPr lang="en-US" sz="1200" dirty="0"/>
          </a:p>
        </p:txBody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58768" y="3337560"/>
            <a:ext cx="457200" cy="45720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4434840" y="2423160"/>
            <a:ext cx="324612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8E0D2"/>
            </a:solidFill>
            <a:prstDash val="solid"/>
          </a:ln>
          <a:effectLst>
            <a:outerShdw sx="100000" sy="100000" kx="0" ky="0" algn="bl" rotWithShape="0" blurRad="76200" dist="25400" dir="5400000">
              <a:srgbClr val="BBBBBB">
                <a:alpha val="28000"/>
              </a:srgbClr>
            </a:outerShdw>
          </a:effectLst>
        </p:spPr>
      </p:sp>
      <p:sp>
        <p:nvSpPr>
          <p:cNvPr id="13" name="Shape 8"/>
          <p:cNvSpPr/>
          <p:nvPr/>
        </p:nvSpPr>
        <p:spPr>
          <a:xfrm>
            <a:off x="5692140" y="2697480"/>
            <a:ext cx="731520" cy="731520"/>
          </a:xfrm>
          <a:prstGeom prst="ellipse">
            <a:avLst/>
          </a:prstGeom>
          <a:solidFill>
            <a:srgbClr val="F2AD32"/>
          </a:solidFill>
          <a:ln/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82335" y="2887675"/>
            <a:ext cx="351130" cy="35113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4617720" y="352044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B2A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Broadened thought–action</a:t>
            </a:r>
            <a:endParaRPr lang="en-US" sz="1600" dirty="0"/>
          </a:p>
        </p:txBody>
      </p:sp>
      <p:sp>
        <p:nvSpPr>
          <p:cNvPr id="16" name="Text 10"/>
          <p:cNvSpPr txBox="1"/>
          <p:nvPr/>
        </p:nvSpPr>
        <p:spPr>
          <a:xfrm>
            <a:off x="4663440" y="3977640"/>
            <a:ext cx="2788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E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Curiosity, risk-taking, imagination open up</a:t>
            </a:r>
            <a:endParaRPr lang="en-US" sz="1200" dirty="0"/>
          </a:p>
        </p:txBody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90688" y="3337560"/>
            <a:ext cx="457200" cy="457200"/>
          </a:xfrm>
          <a:prstGeom prst="rect">
            <a:avLst/>
          </a:prstGeom>
        </p:spPr>
      </p:pic>
      <p:sp>
        <p:nvSpPr>
          <p:cNvPr id="18" name="Shape 11"/>
          <p:cNvSpPr/>
          <p:nvPr/>
        </p:nvSpPr>
        <p:spPr>
          <a:xfrm>
            <a:off x="8366760" y="2423160"/>
            <a:ext cx="324612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8E0D2"/>
            </a:solidFill>
            <a:prstDash val="solid"/>
          </a:ln>
          <a:effectLst>
            <a:outerShdw sx="100000" sy="100000" kx="0" ky="0" algn="bl" rotWithShape="0" blurRad="76200" dist="25400" dir="5400000">
              <a:srgbClr val="BBBBBB">
                <a:alpha val="28000"/>
              </a:srgbClr>
            </a:outerShdw>
          </a:effectLst>
        </p:spPr>
      </p:sp>
      <p:sp>
        <p:nvSpPr>
          <p:cNvPr id="19" name="Shape 12"/>
          <p:cNvSpPr/>
          <p:nvPr/>
        </p:nvSpPr>
        <p:spPr>
          <a:xfrm>
            <a:off x="9624060" y="2697480"/>
            <a:ext cx="731520" cy="731520"/>
          </a:xfrm>
          <a:prstGeom prst="ellipse">
            <a:avLst/>
          </a:prstGeom>
          <a:solidFill>
            <a:srgbClr val="007AC8"/>
          </a:solidFill>
          <a:ln/>
        </p:spPr>
      </p:sp>
      <p:pic>
        <p:nvPicPr>
          <p:cNvPr id="2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14255" y="2887675"/>
            <a:ext cx="351130" cy="351130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8549640" y="352044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B2A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resources</a:t>
            </a:r>
            <a:endParaRPr lang="en-US" sz="1600" dirty="0"/>
          </a:p>
        </p:txBody>
      </p:sp>
      <p:sp>
        <p:nvSpPr>
          <p:cNvPr id="22" name="Text 14"/>
          <p:cNvSpPr txBox="1"/>
          <p:nvPr/>
        </p:nvSpPr>
        <p:spPr>
          <a:xfrm>
            <a:off x="8595360" y="3977640"/>
            <a:ext cx="2788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E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Confidence, skill and resilience endure</a:t>
            </a:r>
            <a:endParaRPr lang="en-US" sz="1200" dirty="0"/>
          </a:p>
        </p:txBody>
      </p:sp>
      <p:sp>
        <p:nvSpPr>
          <p:cNvPr id="23" name="Shape 15"/>
          <p:cNvSpPr/>
          <p:nvPr/>
        </p:nvSpPr>
        <p:spPr>
          <a:xfrm>
            <a:off x="502920" y="5029200"/>
            <a:ext cx="11201400" cy="1005840"/>
          </a:xfrm>
          <a:prstGeom prst="roundRect">
            <a:avLst>
              <a:gd name="adj" fmla="val 9091"/>
            </a:avLst>
          </a:prstGeom>
          <a:solidFill>
            <a:srgbClr val="EDF4E7"/>
          </a:solidFill>
          <a:ln w="12700">
            <a:solidFill>
              <a:srgbClr val="C7DCBB"/>
            </a:solidFill>
            <a:prstDash val="solid"/>
          </a:ln>
        </p:spPr>
      </p:sp>
      <p:pic>
        <p:nvPicPr>
          <p:cNvPr id="2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5285232"/>
            <a:ext cx="457200" cy="457200"/>
          </a:xfrm>
          <a:prstGeom prst="rect">
            <a:avLst/>
          </a:prstGeom>
        </p:spPr>
      </p:pic>
      <p:sp>
        <p:nvSpPr>
          <p:cNvPr id="25" name="Text 16"/>
          <p:cNvSpPr txBox="1"/>
          <p:nvPr/>
        </p:nvSpPr>
        <p:spPr>
          <a:xfrm>
            <a:off x="1417320" y="5138928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1F5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film:  </a:t>
            </a:r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B2A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fearful, shut-down boys of the opening scenes become curious, confident singers — positive emotion literally broadens what they attempt and builds who they become.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332720" y="644652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26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5720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097280" y="420624"/>
            <a:ext cx="10424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4E9A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MÉNDEZ (2011) · GALEANO (2022)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1097280" y="658368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A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Emotions as the engine of motivation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155448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2B2A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Emotions are not the opposite of reason in learning — they are motivational drivers. Méndez shows how emotional states shape motivation in foreign language learning; Galeano’s UNAD OVI maps its motivational components.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02920" y="2423160"/>
            <a:ext cx="11201400" cy="822960"/>
          </a:xfrm>
          <a:prstGeom prst="roundRect">
            <a:avLst>
              <a:gd name="adj" fmla="val 11111"/>
            </a:avLst>
          </a:prstGeom>
          <a:solidFill>
            <a:srgbClr val="EDF4E7"/>
          </a:solidFill>
          <a:ln w="9525">
            <a:solidFill>
              <a:srgbClr val="D8E0D2"/>
            </a:solidFill>
            <a:prstDash val="solid"/>
          </a:ln>
          <a:effectLst>
            <a:outerShdw sx="100000" sy="100000" kx="0" ky="0" algn="bl" rotWithShape="0" blurRad="76200" dist="25400" dir="5400000">
              <a:srgbClr val="BBBBBB">
                <a:alpha val="28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40664" y="2569464"/>
            <a:ext cx="530352" cy="530352"/>
          </a:xfrm>
          <a:prstGeom prst="ellipse">
            <a:avLst/>
          </a:prstGeom>
          <a:solidFill>
            <a:srgbClr val="4E9A3E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8556" y="2707356"/>
            <a:ext cx="254569" cy="254569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463040" y="24231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A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Participation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4480560" y="2423160"/>
            <a:ext cx="6995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E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 emotion invites learners to take part and speak up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502920" y="3355848"/>
            <a:ext cx="11201400" cy="822960"/>
          </a:xfrm>
          <a:prstGeom prst="roundRect">
            <a:avLst>
              <a:gd name="adj" fmla="val 11111"/>
            </a:avLst>
          </a:prstGeom>
          <a:solidFill>
            <a:srgbClr val="FBF2DD"/>
          </a:solidFill>
          <a:ln w="9525">
            <a:solidFill>
              <a:srgbClr val="D8E0D2"/>
            </a:solidFill>
            <a:prstDash val="solid"/>
          </a:ln>
          <a:effectLst>
            <a:outerShdw sx="100000" sy="100000" kx="0" ky="0" algn="bl" rotWithShape="0" blurRad="76200" dist="25400" dir="5400000">
              <a:srgbClr val="BBBBBB">
                <a:alpha val="28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740664" y="3502152"/>
            <a:ext cx="530352" cy="530352"/>
          </a:xfrm>
          <a:prstGeom prst="ellipse">
            <a:avLst/>
          </a:prstGeom>
          <a:solidFill>
            <a:srgbClr val="F2AD32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8556" y="3640044"/>
            <a:ext cx="254569" cy="254569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63040" y="3355848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A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Perseverance</a:t>
            </a:r>
            <a:endParaRPr lang="en-US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4480560" y="3355848"/>
            <a:ext cx="6995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E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Emotional engagement sustains effort through difficulty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502920" y="4288536"/>
            <a:ext cx="11201400" cy="822960"/>
          </a:xfrm>
          <a:prstGeom prst="roundRect">
            <a:avLst>
              <a:gd name="adj" fmla="val 11111"/>
            </a:avLst>
          </a:prstGeom>
          <a:solidFill>
            <a:srgbClr val="EDF4E7"/>
          </a:solidFill>
          <a:ln w="9525">
            <a:solidFill>
              <a:srgbClr val="D8E0D2"/>
            </a:solidFill>
            <a:prstDash val="solid"/>
          </a:ln>
          <a:effectLst>
            <a:outerShdw sx="100000" sy="100000" kx="0" ky="0" algn="bl" rotWithShape="0" blurRad="76200" dist="25400" dir="5400000">
              <a:srgbClr val="BBBBBB">
                <a:alpha val="28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740664" y="4434840"/>
            <a:ext cx="530352" cy="530352"/>
          </a:xfrm>
          <a:prstGeom prst="ellipse">
            <a:avLst/>
          </a:prstGeom>
          <a:solidFill>
            <a:srgbClr val="4E9A3E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8556" y="4572732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463040" y="4288536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A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Self-esteem</a:t>
            </a:r>
            <a:endParaRPr lang="en-US" sz="1600" dirty="0"/>
          </a:p>
        </p:txBody>
      </p:sp>
      <p:sp>
        <p:nvSpPr>
          <p:cNvPr id="20" name="Text 14"/>
          <p:cNvSpPr txBox="1"/>
          <p:nvPr/>
        </p:nvSpPr>
        <p:spPr>
          <a:xfrm>
            <a:off x="4480560" y="4288536"/>
            <a:ext cx="6995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E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 and recognition strengthen the learner’s self-image</a:t>
            </a:r>
            <a:endParaRPr lang="en-US" sz="1300" dirty="0"/>
          </a:p>
        </p:txBody>
      </p:sp>
      <p:sp>
        <p:nvSpPr>
          <p:cNvPr id="21" name="Shape 15"/>
          <p:cNvSpPr/>
          <p:nvPr/>
        </p:nvSpPr>
        <p:spPr>
          <a:xfrm>
            <a:off x="502920" y="5221224"/>
            <a:ext cx="11201400" cy="822960"/>
          </a:xfrm>
          <a:prstGeom prst="roundRect">
            <a:avLst>
              <a:gd name="adj" fmla="val 11111"/>
            </a:avLst>
          </a:prstGeom>
          <a:solidFill>
            <a:srgbClr val="FBF2DD"/>
          </a:solidFill>
          <a:ln w="9525">
            <a:solidFill>
              <a:srgbClr val="D8E0D2"/>
            </a:solidFill>
            <a:prstDash val="solid"/>
          </a:ln>
          <a:effectLst>
            <a:outerShdw sx="100000" sy="100000" kx="0" ky="0" algn="bl" rotWithShape="0" blurRad="76200" dist="25400" dir="5400000">
              <a:srgbClr val="BBBBBB">
                <a:alpha val="28000"/>
              </a:srgbClr>
            </a:outerShdw>
          </a:effectLst>
        </p:spPr>
      </p:sp>
      <p:sp>
        <p:nvSpPr>
          <p:cNvPr id="22" name="Shape 16"/>
          <p:cNvSpPr/>
          <p:nvPr/>
        </p:nvSpPr>
        <p:spPr>
          <a:xfrm>
            <a:off x="740664" y="5367528"/>
            <a:ext cx="530352" cy="530352"/>
          </a:xfrm>
          <a:prstGeom prst="ellipse">
            <a:avLst/>
          </a:prstGeom>
          <a:solidFill>
            <a:srgbClr val="F2AD32"/>
          </a:solidFill>
          <a:ln/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8556" y="5505420"/>
            <a:ext cx="254569" cy="254569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463040" y="5221224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A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Intrinsic motivation</a:t>
            </a:r>
            <a:endParaRPr lang="en-US" sz="1600" dirty="0"/>
          </a:p>
        </p:txBody>
      </p:sp>
      <p:sp>
        <p:nvSpPr>
          <p:cNvPr id="25" name="Text 18"/>
          <p:cNvSpPr txBox="1"/>
          <p:nvPr/>
        </p:nvSpPr>
        <p:spPr>
          <a:xfrm>
            <a:off x="4480560" y="5221224"/>
            <a:ext cx="6995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E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activity becomes rewarding in itself — like singing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332720" y="644652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26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5720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097280" y="420624"/>
            <a:ext cx="10424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4E9A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NIU (2024)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1097280" y="658368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A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Values, ideology &amp; real-world meaning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1554480"/>
            <a:ext cx="64008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50" dirty="0">
                <a:solidFill>
                  <a:srgbClr val="2B2A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transdisciplinary approach to ELT connects language with values and ideology in real-world contexts — pursuing authentic communicative purposes, social relevance and ecological coherence. In the film, music is never ‘just’ music: it carries dignity, hope and solidarity.</a:t>
            </a:r>
            <a:endParaRPr lang="en-US" sz="1550" dirty="0"/>
          </a:p>
        </p:txBody>
      </p:sp>
      <p:sp>
        <p:nvSpPr>
          <p:cNvPr id="6" name="Shape 3"/>
          <p:cNvSpPr/>
          <p:nvPr/>
        </p:nvSpPr>
        <p:spPr>
          <a:xfrm>
            <a:off x="502920" y="3886200"/>
            <a:ext cx="1481328" cy="1371600"/>
          </a:xfrm>
          <a:prstGeom prst="roundRect">
            <a:avLst>
              <a:gd name="adj" fmla="val 6667"/>
            </a:avLst>
          </a:prstGeom>
          <a:solidFill>
            <a:srgbClr val="EDF4E7"/>
          </a:solidFill>
          <a:ln w="9525">
            <a:solidFill>
              <a:srgbClr val="D8E0D2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69264" y="4087368"/>
            <a:ext cx="548640" cy="548640"/>
          </a:xfrm>
          <a:prstGeom prst="ellipse">
            <a:avLst/>
          </a:prstGeom>
          <a:solidFill>
            <a:srgbClr val="4E9A3E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910" y="4230014"/>
            <a:ext cx="263347" cy="263347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02920" y="4754880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B2A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Dignity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2130552" y="3886200"/>
            <a:ext cx="1481328" cy="1371600"/>
          </a:xfrm>
          <a:prstGeom prst="roundRect">
            <a:avLst>
              <a:gd name="adj" fmla="val 6667"/>
            </a:avLst>
          </a:prstGeom>
          <a:solidFill>
            <a:srgbClr val="FBF2DD"/>
          </a:solidFill>
          <a:ln w="9525">
            <a:solidFill>
              <a:srgbClr val="D8E0D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2596896" y="4087368"/>
            <a:ext cx="548640" cy="548640"/>
          </a:xfrm>
          <a:prstGeom prst="ellipse">
            <a:avLst/>
          </a:prstGeom>
          <a:solidFill>
            <a:srgbClr val="F2AD32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39542" y="4230014"/>
            <a:ext cx="263347" cy="263347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2130552" y="4754880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B2A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Hope</a:t>
            </a:r>
            <a:endParaRPr lang="en-US" sz="1350" dirty="0"/>
          </a:p>
        </p:txBody>
      </p:sp>
      <p:sp>
        <p:nvSpPr>
          <p:cNvPr id="14" name="Shape 9"/>
          <p:cNvSpPr/>
          <p:nvPr/>
        </p:nvSpPr>
        <p:spPr>
          <a:xfrm>
            <a:off x="3758184" y="3886200"/>
            <a:ext cx="1481328" cy="1371600"/>
          </a:xfrm>
          <a:prstGeom prst="roundRect">
            <a:avLst>
              <a:gd name="adj" fmla="val 6667"/>
            </a:avLst>
          </a:prstGeom>
          <a:solidFill>
            <a:srgbClr val="EDF4E7"/>
          </a:solidFill>
          <a:ln w="9525">
            <a:solidFill>
              <a:srgbClr val="D8E0D2"/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4224528" y="4087368"/>
            <a:ext cx="548640" cy="548640"/>
          </a:xfrm>
          <a:prstGeom prst="ellipse">
            <a:avLst/>
          </a:prstGeom>
          <a:solidFill>
            <a:srgbClr val="4E9A3E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67174" y="4230014"/>
            <a:ext cx="263347" cy="263347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3758184" y="4754880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B2A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Solidarity</a:t>
            </a:r>
            <a:endParaRPr lang="en-US" sz="1350" dirty="0"/>
          </a:p>
        </p:txBody>
      </p:sp>
      <p:sp>
        <p:nvSpPr>
          <p:cNvPr id="18" name="Shape 12"/>
          <p:cNvSpPr/>
          <p:nvPr/>
        </p:nvSpPr>
        <p:spPr>
          <a:xfrm>
            <a:off x="5385816" y="3886200"/>
            <a:ext cx="1481328" cy="1371600"/>
          </a:xfrm>
          <a:prstGeom prst="roundRect">
            <a:avLst>
              <a:gd name="adj" fmla="val 6667"/>
            </a:avLst>
          </a:prstGeom>
          <a:solidFill>
            <a:srgbClr val="FBF2DD"/>
          </a:solidFill>
          <a:ln w="9525">
            <a:solidFill>
              <a:srgbClr val="D8E0D2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5852160" y="4087368"/>
            <a:ext cx="548640" cy="548640"/>
          </a:xfrm>
          <a:prstGeom prst="ellipse">
            <a:avLst/>
          </a:prstGeom>
          <a:solidFill>
            <a:srgbClr val="F2AD32"/>
          </a:solidFill>
          <a:ln/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94806" y="4230014"/>
            <a:ext cx="263347" cy="263347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5385816" y="4754880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B2A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Respect</a:t>
            </a:r>
            <a:endParaRPr lang="en-US" sz="1350" dirty="0"/>
          </a:p>
        </p:txBody>
      </p:sp>
      <p:sp>
        <p:nvSpPr>
          <p:cNvPr id="22" name="Text 15"/>
          <p:cNvSpPr txBox="1"/>
          <p:nvPr/>
        </p:nvSpPr>
        <p:spPr>
          <a:xfrm>
            <a:off x="502920" y="54864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1F5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 purpose · social relevance · ecological coherence</a:t>
            </a:r>
            <a:endParaRPr lang="en-US" sz="1250" dirty="0"/>
          </a:p>
        </p:txBody>
      </p:sp>
      <p:sp>
        <p:nvSpPr>
          <p:cNvPr id="23" name="Shape 16"/>
          <p:cNvSpPr/>
          <p:nvPr/>
        </p:nvSpPr>
        <p:spPr>
          <a:xfrm>
            <a:off x="7269480" y="1554480"/>
            <a:ext cx="4434840" cy="4297680"/>
          </a:xfrm>
          <a:prstGeom prst="roundRect">
            <a:avLst>
              <a:gd name="adj" fmla="val 2553"/>
            </a:avLst>
          </a:prstGeom>
          <a:solidFill>
            <a:srgbClr val="1F5E34"/>
          </a:solidFill>
          <a:ln/>
        </p:spPr>
      </p:sp>
      <p:sp>
        <p:nvSpPr>
          <p:cNvPr id="24" name="Shape 17"/>
          <p:cNvSpPr/>
          <p:nvPr/>
        </p:nvSpPr>
        <p:spPr>
          <a:xfrm>
            <a:off x="11473343" y="4849612"/>
            <a:ext cx="265176" cy="84856"/>
          </a:xfrm>
          <a:prstGeom prst="roundRect">
            <a:avLst>
              <a:gd name="adj" fmla="val 50000"/>
            </a:avLst>
          </a:prstGeom>
          <a:solidFill>
            <a:srgbClr val="F2AD32"/>
          </a:solidFill>
          <a:ln/>
        </p:spPr>
      </p:sp>
      <p:sp>
        <p:nvSpPr>
          <p:cNvPr id="25" name="Shape 18"/>
          <p:cNvSpPr/>
          <p:nvPr/>
        </p:nvSpPr>
        <p:spPr>
          <a:xfrm rot="1800000">
            <a:off x="11382394" y="5189037"/>
            <a:ext cx="265176" cy="84856"/>
          </a:xfrm>
          <a:prstGeom prst="roundRect">
            <a:avLst>
              <a:gd name="adj" fmla="val 50000"/>
            </a:avLst>
          </a:prstGeom>
          <a:solidFill>
            <a:srgbClr val="4E9A3E"/>
          </a:solidFill>
          <a:ln/>
        </p:spPr>
      </p:sp>
      <p:sp>
        <p:nvSpPr>
          <p:cNvPr id="26" name="Shape 19"/>
          <p:cNvSpPr/>
          <p:nvPr/>
        </p:nvSpPr>
        <p:spPr>
          <a:xfrm rot="3600000">
            <a:off x="11133917" y="5437514"/>
            <a:ext cx="265176" cy="84856"/>
          </a:xfrm>
          <a:prstGeom prst="roundRect">
            <a:avLst>
              <a:gd name="adj" fmla="val 50000"/>
            </a:avLst>
          </a:prstGeom>
          <a:solidFill>
            <a:srgbClr val="F2AD32"/>
          </a:solidFill>
          <a:ln/>
        </p:spPr>
      </p:sp>
      <p:sp>
        <p:nvSpPr>
          <p:cNvPr id="27" name="Shape 20"/>
          <p:cNvSpPr/>
          <p:nvPr/>
        </p:nvSpPr>
        <p:spPr>
          <a:xfrm rot="5400000">
            <a:off x="10794492" y="5528462"/>
            <a:ext cx="265176" cy="84856"/>
          </a:xfrm>
          <a:prstGeom prst="roundRect">
            <a:avLst>
              <a:gd name="adj" fmla="val 50000"/>
            </a:avLst>
          </a:prstGeom>
          <a:solidFill>
            <a:srgbClr val="4E9A3E"/>
          </a:solidFill>
          <a:ln/>
        </p:spPr>
      </p:sp>
      <p:sp>
        <p:nvSpPr>
          <p:cNvPr id="28" name="Shape 21"/>
          <p:cNvSpPr/>
          <p:nvPr/>
        </p:nvSpPr>
        <p:spPr>
          <a:xfrm rot="7200000">
            <a:off x="10455067" y="5437514"/>
            <a:ext cx="265176" cy="84856"/>
          </a:xfrm>
          <a:prstGeom prst="roundRect">
            <a:avLst>
              <a:gd name="adj" fmla="val 50000"/>
            </a:avLst>
          </a:prstGeom>
          <a:solidFill>
            <a:srgbClr val="F2AD32"/>
          </a:solidFill>
          <a:ln/>
        </p:spPr>
      </p:sp>
      <p:sp>
        <p:nvSpPr>
          <p:cNvPr id="29" name="Shape 22"/>
          <p:cNvSpPr/>
          <p:nvPr/>
        </p:nvSpPr>
        <p:spPr>
          <a:xfrm rot="9000000">
            <a:off x="10206590" y="5189037"/>
            <a:ext cx="265176" cy="84856"/>
          </a:xfrm>
          <a:prstGeom prst="roundRect">
            <a:avLst>
              <a:gd name="adj" fmla="val 50000"/>
            </a:avLst>
          </a:prstGeom>
          <a:solidFill>
            <a:srgbClr val="4E9A3E"/>
          </a:solidFill>
          <a:ln/>
        </p:spPr>
      </p:sp>
      <p:sp>
        <p:nvSpPr>
          <p:cNvPr id="30" name="Shape 23"/>
          <p:cNvSpPr/>
          <p:nvPr/>
        </p:nvSpPr>
        <p:spPr>
          <a:xfrm rot="10800000">
            <a:off x="10115641" y="4849612"/>
            <a:ext cx="265176" cy="84856"/>
          </a:xfrm>
          <a:prstGeom prst="roundRect">
            <a:avLst>
              <a:gd name="adj" fmla="val 50000"/>
            </a:avLst>
          </a:prstGeom>
          <a:solidFill>
            <a:srgbClr val="F2AD32"/>
          </a:solidFill>
          <a:ln/>
        </p:spPr>
      </p:sp>
      <p:sp>
        <p:nvSpPr>
          <p:cNvPr id="31" name="Shape 24"/>
          <p:cNvSpPr/>
          <p:nvPr/>
        </p:nvSpPr>
        <p:spPr>
          <a:xfrm rot="12600000">
            <a:off x="10206590" y="4510187"/>
            <a:ext cx="265176" cy="84856"/>
          </a:xfrm>
          <a:prstGeom prst="roundRect">
            <a:avLst>
              <a:gd name="adj" fmla="val 50000"/>
            </a:avLst>
          </a:prstGeom>
          <a:solidFill>
            <a:srgbClr val="4E9A3E"/>
          </a:solidFill>
          <a:ln/>
        </p:spPr>
      </p:sp>
      <p:sp>
        <p:nvSpPr>
          <p:cNvPr id="32" name="Shape 25"/>
          <p:cNvSpPr/>
          <p:nvPr/>
        </p:nvSpPr>
        <p:spPr>
          <a:xfrm rot="14400000">
            <a:off x="10455067" y="4261710"/>
            <a:ext cx="265176" cy="84856"/>
          </a:xfrm>
          <a:prstGeom prst="roundRect">
            <a:avLst>
              <a:gd name="adj" fmla="val 50000"/>
            </a:avLst>
          </a:prstGeom>
          <a:solidFill>
            <a:srgbClr val="F2AD32"/>
          </a:solidFill>
          <a:ln/>
        </p:spPr>
      </p:sp>
      <p:sp>
        <p:nvSpPr>
          <p:cNvPr id="33" name="Shape 26"/>
          <p:cNvSpPr/>
          <p:nvPr/>
        </p:nvSpPr>
        <p:spPr>
          <a:xfrm rot="16200000">
            <a:off x="10794492" y="4170761"/>
            <a:ext cx="265176" cy="84856"/>
          </a:xfrm>
          <a:prstGeom prst="roundRect">
            <a:avLst>
              <a:gd name="adj" fmla="val 50000"/>
            </a:avLst>
          </a:prstGeom>
          <a:solidFill>
            <a:srgbClr val="4E9A3E"/>
          </a:solidFill>
          <a:ln/>
        </p:spPr>
      </p:sp>
      <p:sp>
        <p:nvSpPr>
          <p:cNvPr id="34" name="Shape 27"/>
          <p:cNvSpPr/>
          <p:nvPr/>
        </p:nvSpPr>
        <p:spPr>
          <a:xfrm rot="18000000">
            <a:off x="11133917" y="4261710"/>
            <a:ext cx="265176" cy="84856"/>
          </a:xfrm>
          <a:prstGeom prst="roundRect">
            <a:avLst>
              <a:gd name="adj" fmla="val 50000"/>
            </a:avLst>
          </a:prstGeom>
          <a:solidFill>
            <a:srgbClr val="F2AD32"/>
          </a:solidFill>
          <a:ln/>
        </p:spPr>
      </p:sp>
      <p:sp>
        <p:nvSpPr>
          <p:cNvPr id="35" name="Shape 28"/>
          <p:cNvSpPr/>
          <p:nvPr/>
        </p:nvSpPr>
        <p:spPr>
          <a:xfrm rot="19800000">
            <a:off x="11382394" y="4510187"/>
            <a:ext cx="265176" cy="84856"/>
          </a:xfrm>
          <a:prstGeom prst="roundRect">
            <a:avLst>
              <a:gd name="adj" fmla="val 50000"/>
            </a:avLst>
          </a:prstGeom>
          <a:solidFill>
            <a:srgbClr val="4E9A3E"/>
          </a:solidFill>
          <a:ln/>
        </p:spPr>
      </p:sp>
      <p:sp>
        <p:nvSpPr>
          <p:cNvPr id="36" name="Shape 29"/>
          <p:cNvSpPr/>
          <p:nvPr/>
        </p:nvSpPr>
        <p:spPr>
          <a:xfrm>
            <a:off x="10396728" y="4361688"/>
            <a:ext cx="1060704" cy="1060704"/>
          </a:xfrm>
          <a:prstGeom prst="ellipse">
            <a:avLst/>
          </a:prstGeom>
          <a:solidFill>
            <a:srgbClr val="4E9A3E"/>
          </a:solidFill>
          <a:ln/>
        </p:spPr>
      </p:sp>
      <p:sp>
        <p:nvSpPr>
          <p:cNvPr id="37" name="Shape 30"/>
          <p:cNvSpPr/>
          <p:nvPr/>
        </p:nvSpPr>
        <p:spPr>
          <a:xfrm>
            <a:off x="10598262" y="4563222"/>
            <a:ext cx="657636" cy="657636"/>
          </a:xfrm>
          <a:prstGeom prst="ellipse">
            <a:avLst/>
          </a:prstGeom>
          <a:solidFill>
            <a:srgbClr val="F2AD32"/>
          </a:solidFill>
          <a:ln/>
        </p:spPr>
      </p:sp>
      <p:sp>
        <p:nvSpPr>
          <p:cNvPr id="38" name="Shape 31"/>
          <p:cNvSpPr/>
          <p:nvPr/>
        </p:nvSpPr>
        <p:spPr>
          <a:xfrm>
            <a:off x="10821010" y="4711720"/>
            <a:ext cx="212141" cy="212141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9" name="Shape 32"/>
          <p:cNvSpPr/>
          <p:nvPr/>
        </p:nvSpPr>
        <p:spPr>
          <a:xfrm>
            <a:off x="10704332" y="4849612"/>
            <a:ext cx="445496" cy="371246"/>
          </a:xfrm>
          <a:prstGeom prst="chord">
            <a:avLst>
              <a:gd name="adj1" fmla="val 10800000"/>
              <a:gd name="adj2" fmla="val 21600000"/>
            </a:avLst>
          </a:prstGeom>
          <a:solidFill>
            <a:srgbClr val="FFFFFF"/>
          </a:solidFill>
          <a:ln/>
        </p:spPr>
      </p:sp>
      <p:pic>
        <p:nvPicPr>
          <p:cNvPr id="4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89520" y="1920240"/>
            <a:ext cx="822960" cy="822960"/>
          </a:xfrm>
          <a:prstGeom prst="rect">
            <a:avLst/>
          </a:prstGeom>
        </p:spPr>
      </p:pic>
      <p:sp>
        <p:nvSpPr>
          <p:cNvPr id="41" name="Text 33"/>
          <p:cNvSpPr txBox="1"/>
          <p:nvPr/>
        </p:nvSpPr>
        <p:spPr>
          <a:xfrm>
            <a:off x="7589520" y="283464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Language + life</a:t>
            </a:r>
            <a:endParaRPr lang="en-US" sz="2200" dirty="0"/>
          </a:p>
        </p:txBody>
      </p:sp>
      <p:sp>
        <p:nvSpPr>
          <p:cNvPr id="42" name="Text 34"/>
          <p:cNvSpPr txBox="1"/>
          <p:nvPr/>
        </p:nvSpPr>
        <p:spPr>
          <a:xfrm>
            <a:off x="7589520" y="3383280"/>
            <a:ext cx="38404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D9E8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learning English is tied to real values and meaning, it becomes a transformative, transdisciplinary experience — exactly the ambition of the Prototype Phase.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332720" y="644652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26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5720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097280" y="420624"/>
            <a:ext cx="10424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4E9A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 — HANDS ON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1097280" y="658368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A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Activity: design a “choir moment”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1554480"/>
            <a:ext cx="11155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b="1" dirty="0">
                <a:solidFill>
                  <a:srgbClr val="1F5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 </a:t>
            </a:r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2B2A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theory into practice — create one small moment where positive emotion unlocks learning.</a:t>
            </a:r>
            <a:endParaRPr lang="en-US" sz="1550" dirty="0"/>
          </a:p>
        </p:txBody>
      </p:sp>
      <p:sp>
        <p:nvSpPr>
          <p:cNvPr id="6" name="Shape 3"/>
          <p:cNvSpPr/>
          <p:nvPr/>
        </p:nvSpPr>
        <p:spPr>
          <a:xfrm>
            <a:off x="502920" y="2286000"/>
            <a:ext cx="3611880" cy="3246120"/>
          </a:xfrm>
          <a:prstGeom prst="roundRect">
            <a:avLst>
              <a:gd name="adj" fmla="val 2817"/>
            </a:avLst>
          </a:prstGeom>
          <a:solidFill>
            <a:srgbClr val="EDF4E7"/>
          </a:solidFill>
          <a:ln w="9525">
            <a:solidFill>
              <a:srgbClr val="D8E0D2"/>
            </a:solidFill>
            <a:prstDash val="solid"/>
          </a:ln>
          <a:effectLst>
            <a:outerShdw sx="100000" sy="100000" kx="0" ky="0" algn="bl" rotWithShape="0" blurRad="76200" dist="25400" dir="5400000">
              <a:srgbClr val="BBBBBB">
                <a:alpha val="28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77240" y="2578608"/>
            <a:ext cx="749808" cy="749808"/>
          </a:xfrm>
          <a:prstGeom prst="ellipse">
            <a:avLst/>
          </a:prstGeom>
          <a:solidFill>
            <a:srgbClr val="4E9A3E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2190" y="2773558"/>
            <a:ext cx="359908" cy="359908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2880360" y="2670048"/>
            <a:ext cx="960120" cy="4206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4E9A3E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99232" y="2761488"/>
            <a:ext cx="237744" cy="237744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3273552" y="2670048"/>
            <a:ext cx="566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F5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min</a:t>
            </a:r>
            <a:endParaRPr lang="en-US" sz="1200" dirty="0"/>
          </a:p>
        </p:txBody>
      </p:sp>
      <p:sp>
        <p:nvSpPr>
          <p:cNvPr id="12" name="Text 7"/>
          <p:cNvSpPr txBox="1"/>
          <p:nvPr/>
        </p:nvSpPr>
        <p:spPr>
          <a:xfrm>
            <a:off x="777240" y="352044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A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· Think</a:t>
            </a:r>
            <a:endParaRPr lang="en-US" sz="1800" dirty="0"/>
          </a:p>
        </p:txBody>
      </p:sp>
      <p:sp>
        <p:nvSpPr>
          <p:cNvPr id="13" name="Text 8"/>
          <p:cNvSpPr txBox="1"/>
          <p:nvPr/>
        </p:nvSpPr>
        <p:spPr>
          <a:xfrm>
            <a:off x="795528" y="4023360"/>
            <a:ext cx="302666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6E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a moment when a feeling — safety, pride, curiosity — unlocked learning for you or a student.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4297680" y="2286000"/>
            <a:ext cx="3611880" cy="3246120"/>
          </a:xfrm>
          <a:prstGeom prst="roundRect">
            <a:avLst>
              <a:gd name="adj" fmla="val 2817"/>
            </a:avLst>
          </a:prstGeom>
          <a:solidFill>
            <a:srgbClr val="FBF2DD"/>
          </a:solidFill>
          <a:ln w="9525">
            <a:solidFill>
              <a:srgbClr val="D8E0D2"/>
            </a:solidFill>
            <a:prstDash val="solid"/>
          </a:ln>
          <a:effectLst>
            <a:outerShdw sx="100000" sy="100000" kx="0" ky="0" algn="bl" rotWithShape="0" blurRad="76200" dist="25400" dir="5400000">
              <a:srgbClr val="BBBBBB">
                <a:alpha val="28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4572000" y="2578608"/>
            <a:ext cx="749808" cy="749808"/>
          </a:xfrm>
          <a:prstGeom prst="ellipse">
            <a:avLst/>
          </a:prstGeom>
          <a:solidFill>
            <a:srgbClr val="F2AD32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6950" y="2773558"/>
            <a:ext cx="359908" cy="359908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6675120" y="2670048"/>
            <a:ext cx="960120" cy="4206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2AD32"/>
            </a:solidFill>
            <a:prstDash val="solid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93992" y="2761488"/>
            <a:ext cx="237744" cy="237744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7068312" y="2670048"/>
            <a:ext cx="566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F5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</a:t>
            </a:r>
            <a:endParaRPr lang="en-US" sz="1200" dirty="0"/>
          </a:p>
        </p:txBody>
      </p:sp>
      <p:sp>
        <p:nvSpPr>
          <p:cNvPr id="20" name="Text 13"/>
          <p:cNvSpPr txBox="1"/>
          <p:nvPr/>
        </p:nvSpPr>
        <p:spPr>
          <a:xfrm>
            <a:off x="4572000" y="352044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A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· Pair</a:t>
            </a:r>
            <a:endParaRPr lang="en-US" sz="1800" dirty="0"/>
          </a:p>
        </p:txBody>
      </p:sp>
      <p:sp>
        <p:nvSpPr>
          <p:cNvPr id="21" name="Text 14"/>
          <p:cNvSpPr txBox="1"/>
          <p:nvPr/>
        </p:nvSpPr>
        <p:spPr>
          <a:xfrm>
            <a:off x="4590288" y="4023360"/>
            <a:ext cx="302666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6E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it with a partner. Together, name the bio-pedagogical trait at work (care, voice, mediation…).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092440" y="2286000"/>
            <a:ext cx="3611880" cy="3246120"/>
          </a:xfrm>
          <a:prstGeom prst="roundRect">
            <a:avLst>
              <a:gd name="adj" fmla="val 2817"/>
            </a:avLst>
          </a:prstGeom>
          <a:solidFill>
            <a:srgbClr val="E4F0F8"/>
          </a:solidFill>
          <a:ln w="9525">
            <a:solidFill>
              <a:srgbClr val="D8E0D2"/>
            </a:solidFill>
            <a:prstDash val="solid"/>
          </a:ln>
          <a:effectLst>
            <a:outerShdw sx="100000" sy="100000" kx="0" ky="0" algn="bl" rotWithShape="0" blurRad="76200" dist="25400" dir="5400000">
              <a:srgbClr val="BBBBBB">
                <a:alpha val="28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8366760" y="2578608"/>
            <a:ext cx="749808" cy="749808"/>
          </a:xfrm>
          <a:prstGeom prst="ellipse">
            <a:avLst/>
          </a:prstGeom>
          <a:solidFill>
            <a:srgbClr val="007AC8"/>
          </a:solidFill>
          <a:ln/>
        </p:spPr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61710" y="2773558"/>
            <a:ext cx="359908" cy="359908"/>
          </a:xfrm>
          <a:prstGeom prst="rect">
            <a:avLst/>
          </a:prstGeom>
        </p:spPr>
      </p:pic>
      <p:sp>
        <p:nvSpPr>
          <p:cNvPr id="25" name="Shape 17"/>
          <p:cNvSpPr/>
          <p:nvPr/>
        </p:nvSpPr>
        <p:spPr>
          <a:xfrm>
            <a:off x="10469880" y="2670048"/>
            <a:ext cx="960120" cy="4206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07AC8"/>
            </a:solidFill>
            <a:prstDash val="solid"/>
          </a:ln>
        </p:spPr>
      </p:sp>
      <p:pic>
        <p:nvPicPr>
          <p:cNvPr id="26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588752" y="2761488"/>
            <a:ext cx="237744" cy="237744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10863072" y="2670048"/>
            <a:ext cx="566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F5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</a:t>
            </a:r>
            <a:endParaRPr lang="en-US" sz="1200" dirty="0"/>
          </a:p>
        </p:txBody>
      </p:sp>
      <p:sp>
        <p:nvSpPr>
          <p:cNvPr id="28" name="Text 19"/>
          <p:cNvSpPr txBox="1"/>
          <p:nvPr/>
        </p:nvSpPr>
        <p:spPr>
          <a:xfrm>
            <a:off x="8366760" y="352044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A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· Share</a:t>
            </a:r>
            <a:endParaRPr lang="en-US" sz="1800" dirty="0"/>
          </a:p>
        </p:txBody>
      </p:sp>
      <p:sp>
        <p:nvSpPr>
          <p:cNvPr id="29" name="Text 20"/>
          <p:cNvSpPr txBox="1"/>
          <p:nvPr/>
        </p:nvSpPr>
        <p:spPr>
          <a:xfrm>
            <a:off x="8385048" y="4023360"/>
            <a:ext cx="302666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6E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ONE classroom “choir moment” that activates imagination and reduces fear. Tell the group.</a:t>
            </a:r>
            <a:endParaRPr lang="en-US" sz="1300" dirty="0"/>
          </a:p>
        </p:txBody>
      </p:sp>
      <p:sp>
        <p:nvSpPr>
          <p:cNvPr id="30" name="Text 21"/>
          <p:cNvSpPr txBox="1"/>
          <p:nvPr/>
        </p:nvSpPr>
        <p:spPr>
          <a:xfrm>
            <a:off x="502920" y="576072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1F5E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Think → Pair → Share  ·  keep it to ~10 minutes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332720" y="644652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26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5720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097280" y="420624"/>
            <a:ext cx="10424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4E9A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1097280" y="658368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A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the film to your Prototype Phase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1554480"/>
            <a:ext cx="11155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2B2A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bio-pedagogical workshop, inspired by Mathieu, aligns activities, mediation and didactic sequence with the emotional design of learning. Use this checklist to build it.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02920" y="2286000"/>
            <a:ext cx="5486400" cy="1143000"/>
          </a:xfrm>
          <a:prstGeom prst="roundRect">
            <a:avLst>
              <a:gd name="adj" fmla="val 8000"/>
            </a:avLst>
          </a:prstGeom>
          <a:solidFill>
            <a:srgbClr val="EDF4E7"/>
          </a:solidFill>
          <a:ln w="9525">
            <a:solidFill>
              <a:srgbClr val="D8E0D2"/>
            </a:solidFill>
            <a:prstDash val="solid"/>
          </a:ln>
          <a:effectLst>
            <a:outerShdw sx="100000" sy="100000" kx="0" ky="0" algn="bl" rotWithShape="0" blurRad="76200" dist="25400" dir="5400000">
              <a:srgbClr val="BBBBBB">
                <a:alpha val="28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22376" y="2587752"/>
            <a:ext cx="548640" cy="548640"/>
          </a:xfrm>
          <a:prstGeom prst="ellipse">
            <a:avLst/>
          </a:prstGeom>
          <a:solidFill>
            <a:srgbClr val="4E9A3E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22376" y="258775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1417320" y="2468880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A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Activate imagination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1417320" y="2834640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E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with a task that sparks curiosity and possibility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6217920" y="2286000"/>
            <a:ext cx="5486400" cy="1143000"/>
          </a:xfrm>
          <a:prstGeom prst="roundRect">
            <a:avLst>
              <a:gd name="adj" fmla="val 8000"/>
            </a:avLst>
          </a:prstGeom>
          <a:solidFill>
            <a:srgbClr val="FBF2DD"/>
          </a:solidFill>
          <a:ln w="9525">
            <a:solidFill>
              <a:srgbClr val="D8E0D2"/>
            </a:solidFill>
            <a:prstDash val="solid"/>
          </a:ln>
          <a:effectLst>
            <a:outerShdw sx="100000" sy="100000" kx="0" ky="0" algn="bl" rotWithShape="0" blurRad="76200" dist="25400" dir="5400000">
              <a:srgbClr val="BBBBBB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37376" y="2587752"/>
            <a:ext cx="548640" cy="548640"/>
          </a:xfrm>
          <a:prstGeom prst="ellipse">
            <a:avLst/>
          </a:prstGeom>
          <a:solidFill>
            <a:srgbClr val="F2AD32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437376" y="258775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7132320" y="2468880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A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Reduce fear &amp; anxiety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7132320" y="2834640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E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safe climate before demanding performance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02920" y="3538728"/>
            <a:ext cx="5486400" cy="1143000"/>
          </a:xfrm>
          <a:prstGeom prst="roundRect">
            <a:avLst>
              <a:gd name="adj" fmla="val 8000"/>
            </a:avLst>
          </a:prstGeom>
          <a:solidFill>
            <a:srgbClr val="EDF4E7"/>
          </a:solidFill>
          <a:ln w="9525">
            <a:solidFill>
              <a:srgbClr val="D8E0D2"/>
            </a:solidFill>
            <a:prstDash val="solid"/>
          </a:ln>
          <a:effectLst>
            <a:outerShdw sx="100000" sy="100000" kx="0" ky="0" algn="bl" rotWithShape="0" blurRad="76200" dist="25400" dir="5400000">
              <a:srgbClr val="BBBBBB">
                <a:alpha val="28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722376" y="3840480"/>
            <a:ext cx="548640" cy="548640"/>
          </a:xfrm>
          <a:prstGeom prst="ellipse">
            <a:avLst/>
          </a:prstGeom>
          <a:solidFill>
            <a:srgbClr val="4E9A3E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722376" y="3840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1417320" y="3721608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A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confidence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1417320" y="4087368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E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Scaffold small wins so every learner succeeds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6217920" y="3538728"/>
            <a:ext cx="5486400" cy="1143000"/>
          </a:xfrm>
          <a:prstGeom prst="roundRect">
            <a:avLst>
              <a:gd name="adj" fmla="val 8000"/>
            </a:avLst>
          </a:prstGeom>
          <a:solidFill>
            <a:srgbClr val="FBF2DD"/>
          </a:solidFill>
          <a:ln w="9525">
            <a:solidFill>
              <a:srgbClr val="D8E0D2"/>
            </a:solidFill>
            <a:prstDash val="solid"/>
          </a:ln>
          <a:effectLst>
            <a:outerShdw sx="100000" sy="100000" kx="0" ky="0" algn="bl" rotWithShape="0" blurRad="76200" dist="25400" dir="5400000">
              <a:srgbClr val="BBBBBB">
                <a:alpha val="2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6437376" y="3840480"/>
            <a:ext cx="548640" cy="548640"/>
          </a:xfrm>
          <a:prstGeom prst="ellipse">
            <a:avLst/>
          </a:prstGeom>
          <a:solidFill>
            <a:srgbClr val="F2AD32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6437376" y="3840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7132320" y="3721608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A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Generate emotional resonance</a:t>
            </a:r>
            <a:endParaRPr lang="en-US" sz="1500" dirty="0"/>
          </a:p>
        </p:txBody>
      </p:sp>
      <p:sp>
        <p:nvSpPr>
          <p:cNvPr id="25" name="Text 22"/>
          <p:cNvSpPr txBox="1"/>
          <p:nvPr/>
        </p:nvSpPr>
        <p:spPr>
          <a:xfrm>
            <a:off x="7132320" y="4087368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E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content that moves, not only informs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02920" y="4791456"/>
            <a:ext cx="5486400" cy="1143000"/>
          </a:xfrm>
          <a:prstGeom prst="roundRect">
            <a:avLst>
              <a:gd name="adj" fmla="val 8000"/>
            </a:avLst>
          </a:prstGeom>
          <a:solidFill>
            <a:srgbClr val="EDF4E7"/>
          </a:solidFill>
          <a:ln w="9525">
            <a:solidFill>
              <a:srgbClr val="D8E0D2"/>
            </a:solidFill>
            <a:prstDash val="solid"/>
          </a:ln>
          <a:effectLst>
            <a:outerShdw sx="100000" sy="100000" kx="0" ky="0" algn="bl" rotWithShape="0" blurRad="76200" dist="25400" dir="5400000">
              <a:srgbClr val="BBBBBB">
                <a:alpha val="28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722376" y="5093208"/>
            <a:ext cx="548640" cy="548640"/>
          </a:xfrm>
          <a:prstGeom prst="ellipse">
            <a:avLst/>
          </a:prstGeom>
          <a:solidFill>
            <a:srgbClr val="4E9A3E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722376" y="50932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1417320" y="4974336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A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Mediate, don’t transmit</a:t>
            </a:r>
            <a:endParaRPr lang="en-US" sz="1500" dirty="0"/>
          </a:p>
        </p:txBody>
      </p:sp>
      <p:sp>
        <p:nvSpPr>
          <p:cNvPr id="30" name="Text 27"/>
          <p:cNvSpPr txBox="1"/>
          <p:nvPr/>
        </p:nvSpPr>
        <p:spPr>
          <a:xfrm>
            <a:off x="1417320" y="5340096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E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 discovery; give learners real voice and choice</a:t>
            </a:r>
            <a:endParaRPr lang="en-US" sz="1150" dirty="0"/>
          </a:p>
        </p:txBody>
      </p:sp>
      <p:sp>
        <p:nvSpPr>
          <p:cNvPr id="31" name="Shape 28"/>
          <p:cNvSpPr/>
          <p:nvPr/>
        </p:nvSpPr>
        <p:spPr>
          <a:xfrm>
            <a:off x="6217920" y="4791456"/>
            <a:ext cx="5486400" cy="1143000"/>
          </a:xfrm>
          <a:prstGeom prst="roundRect">
            <a:avLst>
              <a:gd name="adj" fmla="val 8000"/>
            </a:avLst>
          </a:prstGeom>
          <a:solidFill>
            <a:srgbClr val="FBF2DD"/>
          </a:solidFill>
          <a:ln w="9525">
            <a:solidFill>
              <a:srgbClr val="D8E0D2"/>
            </a:solidFill>
            <a:prstDash val="solid"/>
          </a:ln>
          <a:effectLst>
            <a:outerShdw sx="100000" sy="100000" kx="0" ky="0" algn="bl" rotWithShape="0" blurRad="76200" dist="25400" dir="5400000">
              <a:srgbClr val="BBBBBB">
                <a:alpha val="28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6437376" y="5093208"/>
            <a:ext cx="548640" cy="548640"/>
          </a:xfrm>
          <a:prstGeom prst="ellipse">
            <a:avLst/>
          </a:prstGeom>
          <a:solidFill>
            <a:srgbClr val="F2AD32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6437376" y="50932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800" dirty="0"/>
          </a:p>
        </p:txBody>
      </p:sp>
      <p:sp>
        <p:nvSpPr>
          <p:cNvPr id="34" name="Text 31"/>
          <p:cNvSpPr txBox="1"/>
          <p:nvPr/>
        </p:nvSpPr>
        <p:spPr>
          <a:xfrm>
            <a:off x="7132320" y="4974336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A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Align the didactic sequence</a:t>
            </a:r>
            <a:endParaRPr lang="en-US" sz="1500" dirty="0"/>
          </a:p>
        </p:txBody>
      </p:sp>
      <p:sp>
        <p:nvSpPr>
          <p:cNvPr id="35" name="Text 32"/>
          <p:cNvSpPr txBox="1"/>
          <p:nvPr/>
        </p:nvSpPr>
        <p:spPr>
          <a:xfrm>
            <a:off x="7132320" y="5340096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E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activities, mediation and assessment to bio-pedagogical traits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332720" y="644652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26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5720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097280" y="420624"/>
            <a:ext cx="10424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4E9A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LET'S DISCUSS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1097280" y="658368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A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 floor — think, challenge, share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1554480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50" dirty="0">
                <a:solidFill>
                  <a:srgbClr val="2B2A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the question that provokes you most. Agree, disagree, bring an example — the richer the disagreement, the better.</a:t>
            </a:r>
            <a:endParaRPr lang="en-US" sz="1550" dirty="0"/>
          </a:p>
        </p:txBody>
      </p:sp>
      <p:sp>
        <p:nvSpPr>
          <p:cNvPr id="6" name="Shape 3"/>
          <p:cNvSpPr/>
          <p:nvPr/>
        </p:nvSpPr>
        <p:spPr>
          <a:xfrm>
            <a:off x="502920" y="2286000"/>
            <a:ext cx="5486400" cy="1572768"/>
          </a:xfrm>
          <a:prstGeom prst="roundRect">
            <a:avLst>
              <a:gd name="adj" fmla="val 5814"/>
            </a:avLst>
          </a:prstGeom>
          <a:solidFill>
            <a:srgbClr val="EDF4E7"/>
          </a:solidFill>
          <a:ln w="9525">
            <a:solidFill>
              <a:srgbClr val="D8E0D2"/>
            </a:solidFill>
            <a:prstDash val="solid"/>
          </a:ln>
          <a:effectLst>
            <a:outerShdw sx="100000" sy="100000" kx="0" ky="0" algn="bl" rotWithShape="0" blurRad="76200" dist="25400" dir="5400000">
              <a:srgbClr val="BBBBBB">
                <a:alpha val="28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77240" y="2706624"/>
            <a:ext cx="731520" cy="731520"/>
          </a:xfrm>
          <a:prstGeom prst="ellipse">
            <a:avLst/>
          </a:prstGeom>
          <a:solidFill>
            <a:srgbClr val="4E9A3E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7435" y="2896819"/>
            <a:ext cx="351130" cy="35113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691640" y="2468880"/>
            <a:ext cx="406908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2B2A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 every teacher be a “Mathieu”, or does the system (Rachin) always win?</a:t>
            </a:r>
            <a:endParaRPr lang="en-US" sz="1550" dirty="0"/>
          </a:p>
        </p:txBody>
      </p:sp>
      <p:sp>
        <p:nvSpPr>
          <p:cNvPr id="10" name="Shape 6"/>
          <p:cNvSpPr/>
          <p:nvPr/>
        </p:nvSpPr>
        <p:spPr>
          <a:xfrm>
            <a:off x="6217920" y="2286000"/>
            <a:ext cx="5486400" cy="1572768"/>
          </a:xfrm>
          <a:prstGeom prst="roundRect">
            <a:avLst>
              <a:gd name="adj" fmla="val 5814"/>
            </a:avLst>
          </a:prstGeom>
          <a:solidFill>
            <a:srgbClr val="FBF2DD"/>
          </a:solidFill>
          <a:ln w="9525">
            <a:solidFill>
              <a:srgbClr val="D8E0D2"/>
            </a:solidFill>
            <a:prstDash val="solid"/>
          </a:ln>
          <a:effectLst>
            <a:outerShdw sx="100000" sy="100000" kx="0" ky="0" algn="bl" rotWithShape="0" blurRad="76200" dist="25400" dir="5400000">
              <a:srgbClr val="BBBBBB">
                <a:alpha val="28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6492240" y="2706624"/>
            <a:ext cx="731520" cy="731520"/>
          </a:xfrm>
          <a:prstGeom prst="ellipse">
            <a:avLst/>
          </a:prstGeom>
          <a:solidFill>
            <a:srgbClr val="F2AD32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2435" y="2896819"/>
            <a:ext cx="351130" cy="35113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406640" y="2468880"/>
            <a:ext cx="406908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2B2A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 emotion a means to learning — or a goal of education in itself?</a:t>
            </a:r>
            <a:endParaRPr lang="en-US" sz="1550" dirty="0"/>
          </a:p>
        </p:txBody>
      </p:sp>
      <p:sp>
        <p:nvSpPr>
          <p:cNvPr id="14" name="Shape 9"/>
          <p:cNvSpPr/>
          <p:nvPr/>
        </p:nvSpPr>
        <p:spPr>
          <a:xfrm>
            <a:off x="502920" y="4041648"/>
            <a:ext cx="5486400" cy="1572768"/>
          </a:xfrm>
          <a:prstGeom prst="roundRect">
            <a:avLst>
              <a:gd name="adj" fmla="val 5814"/>
            </a:avLst>
          </a:prstGeom>
          <a:solidFill>
            <a:srgbClr val="EDF4E7"/>
          </a:solidFill>
          <a:ln w="9525">
            <a:solidFill>
              <a:srgbClr val="D8E0D2"/>
            </a:solidFill>
            <a:prstDash val="solid"/>
          </a:ln>
          <a:effectLst>
            <a:outerShdw sx="100000" sy="100000" kx="0" ky="0" algn="bl" rotWithShape="0" blurRad="76200" dist="25400" dir="5400000">
              <a:srgbClr val="BBBBBB">
                <a:alpha val="28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777240" y="4462272"/>
            <a:ext cx="731520" cy="731520"/>
          </a:xfrm>
          <a:prstGeom prst="ellipse">
            <a:avLst/>
          </a:prstGeom>
          <a:solidFill>
            <a:srgbClr val="4E9A3E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7435" y="4652467"/>
            <a:ext cx="351130" cy="35113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691640" y="4224528"/>
            <a:ext cx="406908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2B2A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online / distance learning, how do we build emotional climate and relational presence?</a:t>
            </a:r>
            <a:endParaRPr lang="en-US" sz="1550" dirty="0"/>
          </a:p>
        </p:txBody>
      </p:sp>
      <p:sp>
        <p:nvSpPr>
          <p:cNvPr id="18" name="Shape 12"/>
          <p:cNvSpPr/>
          <p:nvPr/>
        </p:nvSpPr>
        <p:spPr>
          <a:xfrm>
            <a:off x="6217920" y="4041648"/>
            <a:ext cx="5486400" cy="1572768"/>
          </a:xfrm>
          <a:prstGeom prst="roundRect">
            <a:avLst>
              <a:gd name="adj" fmla="val 5814"/>
            </a:avLst>
          </a:prstGeom>
          <a:solidFill>
            <a:srgbClr val="FBF2DD"/>
          </a:solidFill>
          <a:ln w="9525">
            <a:solidFill>
              <a:srgbClr val="D8E0D2"/>
            </a:solidFill>
            <a:prstDash val="solid"/>
          </a:ln>
          <a:effectLst>
            <a:outerShdw sx="100000" sy="100000" kx="0" ky="0" algn="bl" rotWithShape="0" blurRad="76200" dist="25400" dir="5400000">
              <a:srgbClr val="BBBBBB">
                <a:alpha val="28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492240" y="4462272"/>
            <a:ext cx="731520" cy="731520"/>
          </a:xfrm>
          <a:prstGeom prst="ellipse">
            <a:avLst/>
          </a:prstGeom>
          <a:solidFill>
            <a:srgbClr val="F2AD32"/>
          </a:solidFill>
          <a:ln/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82435" y="4652467"/>
            <a:ext cx="351130" cy="35113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7406640" y="4224528"/>
            <a:ext cx="406908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2B2A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Which single bio-pedagogical trait would most change YOUR classroom tomorrow?</a:t>
            </a:r>
            <a:endParaRPr lang="en-US" sz="15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332720" y="644652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26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5720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097280" y="420624"/>
            <a:ext cx="10424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4E9A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CONCLUSIONS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1097280" y="658368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A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ideas to carry forward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502920" y="1691640"/>
            <a:ext cx="3611880" cy="3383280"/>
          </a:xfrm>
          <a:prstGeom prst="roundRect">
            <a:avLst>
              <a:gd name="adj" fmla="val 2703"/>
            </a:avLst>
          </a:prstGeom>
          <a:solidFill>
            <a:srgbClr val="EDF4E7"/>
          </a:solidFill>
          <a:ln w="9525">
            <a:solidFill>
              <a:srgbClr val="D8E0D2"/>
            </a:solidFill>
            <a:prstDash val="solid"/>
          </a:ln>
          <a:effectLst>
            <a:outerShdw sx="100000" sy="100000" kx="0" ky="0" algn="bl" rotWithShape="0" blurRad="76200" dist="25400" dir="5400000">
              <a:srgbClr val="BBBBBB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77240" y="1984248"/>
            <a:ext cx="822960" cy="822960"/>
          </a:xfrm>
          <a:prstGeom prst="ellipse">
            <a:avLst/>
          </a:prstGeom>
          <a:solidFill>
            <a:srgbClr val="4E9A3E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1210" y="2198218"/>
            <a:ext cx="395021" cy="395021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3200400" y="19659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4000" b="1" dirty="0">
                <a:solidFill>
                  <a:srgbClr val="CFE3C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000" dirty="0"/>
          </a:p>
        </p:txBody>
      </p:sp>
      <p:sp>
        <p:nvSpPr>
          <p:cNvPr id="9" name="Text 5"/>
          <p:cNvSpPr txBox="1"/>
          <p:nvPr/>
        </p:nvSpPr>
        <p:spPr>
          <a:xfrm>
            <a:off x="758952" y="2971800"/>
            <a:ext cx="309981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2B2A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teacher is a mediator</a:t>
            </a:r>
            <a:endParaRPr lang="en-US" sz="1700" dirty="0"/>
          </a:p>
        </p:txBody>
      </p:sp>
      <p:sp>
        <p:nvSpPr>
          <p:cNvPr id="10" name="Text 6"/>
          <p:cNvSpPr txBox="1"/>
          <p:nvPr/>
        </p:nvSpPr>
        <p:spPr>
          <a:xfrm>
            <a:off x="758952" y="3840480"/>
            <a:ext cx="309981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6E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controller. The quality of the relationship decides whether learning happens — the core bio-pedagogical shift (Pérez-Cárdenas, 2021).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4297680" y="1691640"/>
            <a:ext cx="3611880" cy="3383280"/>
          </a:xfrm>
          <a:prstGeom prst="roundRect">
            <a:avLst>
              <a:gd name="adj" fmla="val 2703"/>
            </a:avLst>
          </a:prstGeom>
          <a:solidFill>
            <a:srgbClr val="FBF2DD"/>
          </a:solidFill>
          <a:ln w="9525">
            <a:solidFill>
              <a:srgbClr val="D8E0D2"/>
            </a:solidFill>
            <a:prstDash val="solid"/>
          </a:ln>
          <a:effectLst>
            <a:outerShdw sx="100000" sy="100000" kx="0" ky="0" algn="bl" rotWithShape="0" blurRad="76200" dist="25400" dir="5400000">
              <a:srgbClr val="BBBBBB">
                <a:alpha val="28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572000" y="1984248"/>
            <a:ext cx="822960" cy="822960"/>
          </a:xfrm>
          <a:prstGeom prst="ellipse">
            <a:avLst/>
          </a:prstGeom>
          <a:solidFill>
            <a:srgbClr val="F2AD32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5970" y="2198218"/>
            <a:ext cx="395021" cy="395021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6995160" y="19659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4000" b="1" dirty="0">
                <a:solidFill>
                  <a:srgbClr val="EBD9A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4000" dirty="0"/>
          </a:p>
        </p:txBody>
      </p:sp>
      <p:sp>
        <p:nvSpPr>
          <p:cNvPr id="15" name="Text 10"/>
          <p:cNvSpPr txBox="1"/>
          <p:nvPr/>
        </p:nvSpPr>
        <p:spPr>
          <a:xfrm>
            <a:off x="4553712" y="2971800"/>
            <a:ext cx="309981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2B2A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Emotion powers learning</a:t>
            </a:r>
            <a:endParaRPr lang="en-US" sz="1700" dirty="0"/>
          </a:p>
        </p:txBody>
      </p:sp>
      <p:sp>
        <p:nvSpPr>
          <p:cNvPr id="16" name="Text 11"/>
          <p:cNvSpPr txBox="1"/>
          <p:nvPr/>
        </p:nvSpPr>
        <p:spPr>
          <a:xfrm>
            <a:off x="4553712" y="3840480"/>
            <a:ext cx="309981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6E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 emotions broaden and build (MacIntyre &amp; Gregersen, 2012) and drive motivation (Méndez, 2011; Galeano, 2022).</a:t>
            </a:r>
            <a:endParaRPr lang="en-US" sz="1200" dirty="0"/>
          </a:p>
        </p:txBody>
      </p:sp>
      <p:sp>
        <p:nvSpPr>
          <p:cNvPr id="17" name="Shape 12"/>
          <p:cNvSpPr/>
          <p:nvPr/>
        </p:nvSpPr>
        <p:spPr>
          <a:xfrm>
            <a:off x="8092440" y="1691640"/>
            <a:ext cx="3611880" cy="3383280"/>
          </a:xfrm>
          <a:prstGeom prst="roundRect">
            <a:avLst>
              <a:gd name="adj" fmla="val 2703"/>
            </a:avLst>
          </a:prstGeom>
          <a:solidFill>
            <a:srgbClr val="EDF4E7"/>
          </a:solidFill>
          <a:ln w="9525">
            <a:solidFill>
              <a:srgbClr val="D8E0D2"/>
            </a:solidFill>
            <a:prstDash val="solid"/>
          </a:ln>
          <a:effectLst>
            <a:outerShdw sx="100000" sy="100000" kx="0" ky="0" algn="bl" rotWithShape="0" blurRad="76200" dist="25400" dir="5400000">
              <a:srgbClr val="BBBBBB">
                <a:alpha val="28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8366760" y="1984248"/>
            <a:ext cx="822960" cy="822960"/>
          </a:xfrm>
          <a:prstGeom prst="ellipse">
            <a:avLst/>
          </a:prstGeom>
          <a:solidFill>
            <a:srgbClr val="007AC8"/>
          </a:solidFill>
          <a:ln/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80730" y="2198218"/>
            <a:ext cx="395021" cy="395021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0789920" y="19659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4000" b="1" dirty="0">
                <a:solidFill>
                  <a:srgbClr val="CFE3C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4000" dirty="0"/>
          </a:p>
        </p:txBody>
      </p:sp>
      <p:sp>
        <p:nvSpPr>
          <p:cNvPr id="21" name="Text 15"/>
          <p:cNvSpPr txBox="1"/>
          <p:nvPr/>
        </p:nvSpPr>
        <p:spPr>
          <a:xfrm>
            <a:off x="8348472" y="2971800"/>
            <a:ext cx="309981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2B2A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Meaning makes it transformative</a:t>
            </a:r>
            <a:endParaRPr lang="en-US" sz="1700" dirty="0"/>
          </a:p>
        </p:txBody>
      </p:sp>
      <p:sp>
        <p:nvSpPr>
          <p:cNvPr id="22" name="Text 16"/>
          <p:cNvSpPr txBox="1"/>
          <p:nvPr/>
        </p:nvSpPr>
        <p:spPr>
          <a:xfrm>
            <a:off x="8348472" y="3840480"/>
            <a:ext cx="309981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6E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Tying language to values and real life (Niu, 2024) turns a lesson into a transcendental change — as the choir did for the boys.</a:t>
            </a:r>
            <a:endParaRPr lang="en-US" sz="1200" dirty="0"/>
          </a:p>
        </p:txBody>
      </p:sp>
      <p:sp>
        <p:nvSpPr>
          <p:cNvPr id="23" name="Shape 17"/>
          <p:cNvSpPr/>
          <p:nvPr/>
        </p:nvSpPr>
        <p:spPr>
          <a:xfrm>
            <a:off x="502920" y="5349240"/>
            <a:ext cx="11201400" cy="658368"/>
          </a:xfrm>
          <a:prstGeom prst="roundRect">
            <a:avLst>
              <a:gd name="adj" fmla="val 50000"/>
            </a:avLst>
          </a:prstGeom>
          <a:solidFill>
            <a:srgbClr val="1F5E34"/>
          </a:solidFill>
          <a:ln/>
        </p:spPr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5486400"/>
            <a:ext cx="384048" cy="384048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1325880" y="5349240"/>
            <a:ext cx="10149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F2A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commitment:  </a:t>
            </a:r>
            <a:pPr algn="l"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ONE idea and name one change you will make in your teaching this week.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332720" y="644652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26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5720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097280" y="420624"/>
            <a:ext cx="10424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4E9A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BIBLIOGRAPHICAL REFERENCES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1097280" y="658368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A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Sources — APA 7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11109960" cy="749808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6350">
            <a:solidFill>
              <a:srgbClr val="D8E0D2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01368"/>
            <a:ext cx="347472" cy="347472"/>
          </a:xfrm>
          <a:prstGeom prst="ellipse">
            <a:avLst/>
          </a:prstGeom>
          <a:solidFill>
            <a:srgbClr val="4E9A3E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31520" y="180136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1261872" y="1600200"/>
            <a:ext cx="10195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A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Camila R. (2023, May 14). The Chorus (2004) – 720p (with Spanish subtitles) [Video]. YouTube. https://www.youtube.com/watch?v=uUZOVaPi4wo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48640" y="2386584"/>
            <a:ext cx="11109960" cy="749808"/>
          </a:xfrm>
          <a:prstGeom prst="roundRect">
            <a:avLst>
              <a:gd name="adj" fmla="val 7317"/>
            </a:avLst>
          </a:prstGeom>
          <a:solidFill>
            <a:srgbClr val="F6F9F3"/>
          </a:solidFill>
          <a:ln w="6350">
            <a:solidFill>
              <a:srgbClr val="D8E0D2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2587752"/>
            <a:ext cx="347472" cy="347472"/>
          </a:xfrm>
          <a:prstGeom prst="ellipse">
            <a:avLst/>
          </a:prstGeom>
          <a:solidFill>
            <a:srgbClr val="4E9A3E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31520" y="25877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1261872" y="2386584"/>
            <a:ext cx="10195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A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MacIntyre, P., &amp; Gregersen, T. (2012). Emotions that facilitate language learning: The positive-broadening power of the imagination. Studies in Second Language Learning and Teaching, 2(2), 193–213. https://files.eric.ed.gov/fulltext/EJ1135856.pdf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48640" y="3172968"/>
            <a:ext cx="11109960" cy="749808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6350">
            <a:solidFill>
              <a:srgbClr val="D8E0D2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3374136"/>
            <a:ext cx="347472" cy="347472"/>
          </a:xfrm>
          <a:prstGeom prst="ellipse">
            <a:avLst/>
          </a:prstGeom>
          <a:solidFill>
            <a:srgbClr val="4E9A3E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31520" y="337413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1261872" y="3172968"/>
            <a:ext cx="10195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A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Méndez, M. (2011). The motivational properties of emotions in Foreign Language Learning. Colombian Applied Linguistics Journal, 13(2), 43–59. http://www.scielo.org.co/scielo.php?script=sci_arttext&amp;pid=S0123-46412011000200004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548640" y="3959352"/>
            <a:ext cx="11109960" cy="749808"/>
          </a:xfrm>
          <a:prstGeom prst="roundRect">
            <a:avLst>
              <a:gd name="adj" fmla="val 7317"/>
            </a:avLst>
          </a:prstGeom>
          <a:solidFill>
            <a:srgbClr val="F6F9F3"/>
          </a:solidFill>
          <a:ln w="6350">
            <a:solidFill>
              <a:srgbClr val="D8E0D2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31520" y="4160520"/>
            <a:ext cx="347472" cy="347472"/>
          </a:xfrm>
          <a:prstGeom prst="ellipse">
            <a:avLst/>
          </a:prstGeom>
          <a:solidFill>
            <a:srgbClr val="4E9A3E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31520" y="41605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1261872" y="3959352"/>
            <a:ext cx="10195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A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Niu, P. (2024). A transdisciplinary approach to ELT: Teaching values and ideology in real-world context. Curriculum and Teaching Methodology, 7(1), 190–195.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48640" y="4745736"/>
            <a:ext cx="11109960" cy="749808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6350">
            <a:solidFill>
              <a:srgbClr val="D8E0D2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31520" y="4946904"/>
            <a:ext cx="347472" cy="347472"/>
          </a:xfrm>
          <a:prstGeom prst="ellipse">
            <a:avLst/>
          </a:prstGeom>
          <a:solidFill>
            <a:srgbClr val="4E9A3E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731520" y="494690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1261872" y="4745736"/>
            <a:ext cx="10195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A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Pérez-Cárdenas, L. V. (2021). De la mediación pedagógica y los rasgos clave biopedagógicos hacia los cambios trascendentales en las prácticas de TEFL. EducAcción Sentipensante, 1(1), 47–57. https://doi.org/10.22490/28057597.5428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548640" y="5532120"/>
            <a:ext cx="11109960" cy="749808"/>
          </a:xfrm>
          <a:prstGeom prst="roundRect">
            <a:avLst>
              <a:gd name="adj" fmla="val 7317"/>
            </a:avLst>
          </a:prstGeom>
          <a:solidFill>
            <a:srgbClr val="F6F9F3"/>
          </a:solidFill>
          <a:ln w="6350">
            <a:solidFill>
              <a:srgbClr val="D8E0D2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731520" y="5733288"/>
            <a:ext cx="347472" cy="347472"/>
          </a:xfrm>
          <a:prstGeom prst="ellipse">
            <a:avLst/>
          </a:prstGeom>
          <a:solidFill>
            <a:srgbClr val="4E9A3E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731520" y="57332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300" dirty="0"/>
          </a:p>
        </p:txBody>
      </p:sp>
      <p:sp>
        <p:nvSpPr>
          <p:cNvPr id="28" name="Text 25"/>
          <p:cNvSpPr txBox="1"/>
          <p:nvPr/>
        </p:nvSpPr>
        <p:spPr>
          <a:xfrm>
            <a:off x="1261872" y="5532120"/>
            <a:ext cx="10195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A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Galeano, H. (2022). Motivational Components in Foreign Language Learning [Objeto virtual de información – OVI]. Repositorio Institucional UNAD. https://repository.unad.edu.co/handle/10596/49140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332720" y="644652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26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2490704" y="5797296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1F5E34"/>
          </a:solidFill>
          <a:ln/>
        </p:spPr>
      </p:sp>
      <p:sp>
        <p:nvSpPr>
          <p:cNvPr id="3" name="Shape 1"/>
          <p:cNvSpPr/>
          <p:nvPr/>
        </p:nvSpPr>
        <p:spPr>
          <a:xfrm rot="1800000">
            <a:off x="12177088" y="6967728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1F5E34"/>
          </a:solidFill>
          <a:ln/>
        </p:spPr>
      </p:sp>
      <p:sp>
        <p:nvSpPr>
          <p:cNvPr id="4" name="Shape 2"/>
          <p:cNvSpPr/>
          <p:nvPr/>
        </p:nvSpPr>
        <p:spPr>
          <a:xfrm rot="3600000">
            <a:off x="11320272" y="782454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1F5E34"/>
          </a:solidFill>
          <a:ln/>
        </p:spPr>
      </p:sp>
      <p:sp>
        <p:nvSpPr>
          <p:cNvPr id="5" name="Shape 3"/>
          <p:cNvSpPr/>
          <p:nvPr/>
        </p:nvSpPr>
        <p:spPr>
          <a:xfrm rot="5400000">
            <a:off x="10149840" y="8138160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1F5E34"/>
          </a:solidFill>
          <a:ln/>
        </p:spPr>
      </p:sp>
      <p:sp>
        <p:nvSpPr>
          <p:cNvPr id="6" name="Shape 4"/>
          <p:cNvSpPr/>
          <p:nvPr/>
        </p:nvSpPr>
        <p:spPr>
          <a:xfrm rot="7200000">
            <a:off x="8979408" y="782454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1F5E34"/>
          </a:solidFill>
          <a:ln/>
        </p:spPr>
      </p:sp>
      <p:sp>
        <p:nvSpPr>
          <p:cNvPr id="7" name="Shape 5"/>
          <p:cNvSpPr/>
          <p:nvPr/>
        </p:nvSpPr>
        <p:spPr>
          <a:xfrm rot="9000000">
            <a:off x="8122592" y="6967728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1F5E34"/>
          </a:solidFill>
          <a:ln/>
        </p:spPr>
      </p:sp>
      <p:sp>
        <p:nvSpPr>
          <p:cNvPr id="8" name="Shape 6"/>
          <p:cNvSpPr/>
          <p:nvPr/>
        </p:nvSpPr>
        <p:spPr>
          <a:xfrm rot="10800000">
            <a:off x="7808976" y="5797296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1F5E34"/>
          </a:solidFill>
          <a:ln/>
        </p:spPr>
      </p:sp>
      <p:sp>
        <p:nvSpPr>
          <p:cNvPr id="9" name="Shape 7"/>
          <p:cNvSpPr/>
          <p:nvPr/>
        </p:nvSpPr>
        <p:spPr>
          <a:xfrm rot="12600000">
            <a:off x="8122592" y="462686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1F5E34"/>
          </a:solidFill>
          <a:ln/>
        </p:spPr>
      </p:sp>
      <p:sp>
        <p:nvSpPr>
          <p:cNvPr id="10" name="Shape 8"/>
          <p:cNvSpPr/>
          <p:nvPr/>
        </p:nvSpPr>
        <p:spPr>
          <a:xfrm rot="14400000">
            <a:off x="8979408" y="3770048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1F5E34"/>
          </a:solidFill>
          <a:ln/>
        </p:spPr>
      </p:sp>
      <p:sp>
        <p:nvSpPr>
          <p:cNvPr id="11" name="Shape 9"/>
          <p:cNvSpPr/>
          <p:nvPr/>
        </p:nvSpPr>
        <p:spPr>
          <a:xfrm rot="16200000">
            <a:off x="10149840" y="3456432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1F5E34"/>
          </a:solidFill>
          <a:ln/>
        </p:spPr>
      </p:sp>
      <p:sp>
        <p:nvSpPr>
          <p:cNvPr id="12" name="Shape 10"/>
          <p:cNvSpPr/>
          <p:nvPr/>
        </p:nvSpPr>
        <p:spPr>
          <a:xfrm rot="18000000">
            <a:off x="11320272" y="3770048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1F5E34"/>
          </a:solidFill>
          <a:ln/>
        </p:spPr>
      </p:sp>
      <p:sp>
        <p:nvSpPr>
          <p:cNvPr id="13" name="Shape 11"/>
          <p:cNvSpPr/>
          <p:nvPr/>
        </p:nvSpPr>
        <p:spPr>
          <a:xfrm rot="19800000">
            <a:off x="12177088" y="462686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1F5E34"/>
          </a:solidFill>
          <a:ln/>
        </p:spPr>
      </p:sp>
      <p:sp>
        <p:nvSpPr>
          <p:cNvPr id="14" name="Shape 12"/>
          <p:cNvSpPr/>
          <p:nvPr/>
        </p:nvSpPr>
        <p:spPr>
          <a:xfrm>
            <a:off x="8778240" y="4114800"/>
            <a:ext cx="3657600" cy="3657600"/>
          </a:xfrm>
          <a:prstGeom prst="ellipse">
            <a:avLst/>
          </a:prstGeom>
          <a:solidFill>
            <a:srgbClr val="1F5E34"/>
          </a:solidFill>
          <a:ln/>
        </p:spPr>
      </p:sp>
      <p:sp>
        <p:nvSpPr>
          <p:cNvPr id="15" name="Shape 13"/>
          <p:cNvSpPr/>
          <p:nvPr/>
        </p:nvSpPr>
        <p:spPr>
          <a:xfrm>
            <a:off x="9473184" y="4809744"/>
            <a:ext cx="2267712" cy="2267712"/>
          </a:xfrm>
          <a:prstGeom prst="ellipse">
            <a:avLst/>
          </a:prstGeom>
          <a:solidFill>
            <a:srgbClr val="1A4C2C"/>
          </a:solidFill>
          <a:ln/>
        </p:spPr>
      </p:sp>
      <p:sp>
        <p:nvSpPr>
          <p:cNvPr id="16" name="Shape 14"/>
          <p:cNvSpPr/>
          <p:nvPr/>
        </p:nvSpPr>
        <p:spPr>
          <a:xfrm>
            <a:off x="10241280" y="5321808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7" name="Shape 15"/>
          <p:cNvSpPr/>
          <p:nvPr/>
        </p:nvSpPr>
        <p:spPr>
          <a:xfrm>
            <a:off x="9838944" y="5797296"/>
            <a:ext cx="1536192" cy="1280160"/>
          </a:xfrm>
          <a:prstGeom prst="chord">
            <a:avLst>
              <a:gd name="adj1" fmla="val 10800000"/>
              <a:gd name="adj2" fmla="val 21600000"/>
            </a:avLst>
          </a:prstGeom>
          <a:solidFill>
            <a:srgbClr val="FFFFFF"/>
          </a:solidFill>
          <a:ln/>
        </p:spPr>
      </p:sp>
      <p:sp>
        <p:nvSpPr>
          <p:cNvPr id="18" name="Shape 16"/>
          <p:cNvSpPr/>
          <p:nvPr/>
        </p:nvSpPr>
        <p:spPr>
          <a:xfrm>
            <a:off x="846917" y="693847"/>
            <a:ext cx="64008" cy="20483"/>
          </a:xfrm>
          <a:prstGeom prst="roundRect">
            <a:avLst>
              <a:gd name="adj" fmla="val 49999"/>
            </a:avLst>
          </a:prstGeom>
          <a:solidFill>
            <a:srgbClr val="F2AD32"/>
          </a:solidFill>
          <a:ln/>
        </p:spPr>
      </p:sp>
      <p:sp>
        <p:nvSpPr>
          <p:cNvPr id="19" name="Shape 17"/>
          <p:cNvSpPr/>
          <p:nvPr/>
        </p:nvSpPr>
        <p:spPr>
          <a:xfrm rot="1800000">
            <a:off x="824964" y="775777"/>
            <a:ext cx="64008" cy="20483"/>
          </a:xfrm>
          <a:prstGeom prst="roundRect">
            <a:avLst>
              <a:gd name="adj" fmla="val 49999"/>
            </a:avLst>
          </a:prstGeom>
          <a:solidFill>
            <a:srgbClr val="4E9A3E"/>
          </a:solidFill>
          <a:ln/>
        </p:spPr>
      </p:sp>
      <p:sp>
        <p:nvSpPr>
          <p:cNvPr id="20" name="Shape 18"/>
          <p:cNvSpPr/>
          <p:nvPr/>
        </p:nvSpPr>
        <p:spPr>
          <a:xfrm rot="3600000">
            <a:off x="764987" y="835754"/>
            <a:ext cx="64008" cy="20483"/>
          </a:xfrm>
          <a:prstGeom prst="roundRect">
            <a:avLst>
              <a:gd name="adj" fmla="val 49999"/>
            </a:avLst>
          </a:prstGeom>
          <a:solidFill>
            <a:srgbClr val="F2AD32"/>
          </a:solidFill>
          <a:ln/>
        </p:spPr>
      </p:sp>
      <p:sp>
        <p:nvSpPr>
          <p:cNvPr id="21" name="Shape 19"/>
          <p:cNvSpPr/>
          <p:nvPr/>
        </p:nvSpPr>
        <p:spPr>
          <a:xfrm rot="5400000">
            <a:off x="683057" y="857707"/>
            <a:ext cx="64008" cy="20483"/>
          </a:xfrm>
          <a:prstGeom prst="roundRect">
            <a:avLst>
              <a:gd name="adj" fmla="val 49999"/>
            </a:avLst>
          </a:prstGeom>
          <a:solidFill>
            <a:srgbClr val="4E9A3E"/>
          </a:solidFill>
          <a:ln/>
        </p:spPr>
      </p:sp>
      <p:sp>
        <p:nvSpPr>
          <p:cNvPr id="22" name="Shape 20"/>
          <p:cNvSpPr/>
          <p:nvPr/>
        </p:nvSpPr>
        <p:spPr>
          <a:xfrm rot="7200000">
            <a:off x="601127" y="835754"/>
            <a:ext cx="64008" cy="20483"/>
          </a:xfrm>
          <a:prstGeom prst="roundRect">
            <a:avLst>
              <a:gd name="adj" fmla="val 49999"/>
            </a:avLst>
          </a:prstGeom>
          <a:solidFill>
            <a:srgbClr val="F2AD32"/>
          </a:solidFill>
          <a:ln/>
        </p:spPr>
      </p:sp>
      <p:sp>
        <p:nvSpPr>
          <p:cNvPr id="23" name="Shape 21"/>
          <p:cNvSpPr/>
          <p:nvPr/>
        </p:nvSpPr>
        <p:spPr>
          <a:xfrm rot="9000000">
            <a:off x="541149" y="775777"/>
            <a:ext cx="64008" cy="20483"/>
          </a:xfrm>
          <a:prstGeom prst="roundRect">
            <a:avLst>
              <a:gd name="adj" fmla="val 49999"/>
            </a:avLst>
          </a:prstGeom>
          <a:solidFill>
            <a:srgbClr val="4E9A3E"/>
          </a:solidFill>
          <a:ln/>
        </p:spPr>
      </p:sp>
      <p:sp>
        <p:nvSpPr>
          <p:cNvPr id="24" name="Shape 22"/>
          <p:cNvSpPr/>
          <p:nvPr/>
        </p:nvSpPr>
        <p:spPr>
          <a:xfrm rot="10800000">
            <a:off x="519196" y="693847"/>
            <a:ext cx="64008" cy="20483"/>
          </a:xfrm>
          <a:prstGeom prst="roundRect">
            <a:avLst>
              <a:gd name="adj" fmla="val 49999"/>
            </a:avLst>
          </a:prstGeom>
          <a:solidFill>
            <a:srgbClr val="F2AD32"/>
          </a:solidFill>
          <a:ln/>
        </p:spPr>
      </p:sp>
      <p:sp>
        <p:nvSpPr>
          <p:cNvPr id="25" name="Shape 23"/>
          <p:cNvSpPr/>
          <p:nvPr/>
        </p:nvSpPr>
        <p:spPr>
          <a:xfrm rot="12600000">
            <a:off x="541149" y="611916"/>
            <a:ext cx="64008" cy="20483"/>
          </a:xfrm>
          <a:prstGeom prst="roundRect">
            <a:avLst>
              <a:gd name="adj" fmla="val 49999"/>
            </a:avLst>
          </a:prstGeom>
          <a:solidFill>
            <a:srgbClr val="4E9A3E"/>
          </a:solidFill>
          <a:ln/>
        </p:spPr>
      </p:sp>
      <p:sp>
        <p:nvSpPr>
          <p:cNvPr id="26" name="Shape 24"/>
          <p:cNvSpPr/>
          <p:nvPr/>
        </p:nvSpPr>
        <p:spPr>
          <a:xfrm rot="14400000">
            <a:off x="601127" y="551939"/>
            <a:ext cx="64008" cy="20483"/>
          </a:xfrm>
          <a:prstGeom prst="roundRect">
            <a:avLst>
              <a:gd name="adj" fmla="val 49999"/>
            </a:avLst>
          </a:prstGeom>
          <a:solidFill>
            <a:srgbClr val="F2AD32"/>
          </a:solidFill>
          <a:ln/>
        </p:spPr>
      </p:sp>
      <p:sp>
        <p:nvSpPr>
          <p:cNvPr id="27" name="Shape 25"/>
          <p:cNvSpPr/>
          <p:nvPr/>
        </p:nvSpPr>
        <p:spPr>
          <a:xfrm rot="16200000">
            <a:off x="683057" y="529986"/>
            <a:ext cx="64008" cy="20483"/>
          </a:xfrm>
          <a:prstGeom prst="roundRect">
            <a:avLst>
              <a:gd name="adj" fmla="val 49999"/>
            </a:avLst>
          </a:prstGeom>
          <a:solidFill>
            <a:srgbClr val="4E9A3E"/>
          </a:solidFill>
          <a:ln/>
        </p:spPr>
      </p:sp>
      <p:sp>
        <p:nvSpPr>
          <p:cNvPr id="28" name="Shape 26"/>
          <p:cNvSpPr/>
          <p:nvPr/>
        </p:nvSpPr>
        <p:spPr>
          <a:xfrm rot="18000000">
            <a:off x="764987" y="551939"/>
            <a:ext cx="64008" cy="20483"/>
          </a:xfrm>
          <a:prstGeom prst="roundRect">
            <a:avLst>
              <a:gd name="adj" fmla="val 49999"/>
            </a:avLst>
          </a:prstGeom>
          <a:solidFill>
            <a:srgbClr val="F2AD32"/>
          </a:solidFill>
          <a:ln/>
        </p:spPr>
      </p:sp>
      <p:sp>
        <p:nvSpPr>
          <p:cNvPr id="29" name="Shape 27"/>
          <p:cNvSpPr/>
          <p:nvPr/>
        </p:nvSpPr>
        <p:spPr>
          <a:xfrm rot="19800000">
            <a:off x="824964" y="611916"/>
            <a:ext cx="64008" cy="20483"/>
          </a:xfrm>
          <a:prstGeom prst="roundRect">
            <a:avLst>
              <a:gd name="adj" fmla="val 49999"/>
            </a:avLst>
          </a:prstGeom>
          <a:solidFill>
            <a:srgbClr val="4E9A3E"/>
          </a:solidFill>
          <a:ln/>
        </p:spPr>
      </p:sp>
      <p:sp>
        <p:nvSpPr>
          <p:cNvPr id="30" name="Shape 28"/>
          <p:cNvSpPr/>
          <p:nvPr/>
        </p:nvSpPr>
        <p:spPr>
          <a:xfrm>
            <a:off x="587045" y="576072"/>
            <a:ext cx="256032" cy="256032"/>
          </a:xfrm>
          <a:prstGeom prst="ellipse">
            <a:avLst/>
          </a:prstGeom>
          <a:solidFill>
            <a:srgbClr val="4E9A3E"/>
          </a:solidFill>
          <a:ln/>
        </p:spPr>
      </p:sp>
      <p:sp>
        <p:nvSpPr>
          <p:cNvPr id="31" name="Shape 29"/>
          <p:cNvSpPr/>
          <p:nvPr/>
        </p:nvSpPr>
        <p:spPr>
          <a:xfrm>
            <a:off x="635691" y="624718"/>
            <a:ext cx="158740" cy="158740"/>
          </a:xfrm>
          <a:prstGeom prst="ellipse">
            <a:avLst/>
          </a:prstGeom>
          <a:solidFill>
            <a:srgbClr val="F2AD32"/>
          </a:solidFill>
          <a:ln/>
        </p:spPr>
      </p:sp>
      <p:sp>
        <p:nvSpPr>
          <p:cNvPr id="32" name="Shape 30"/>
          <p:cNvSpPr/>
          <p:nvPr/>
        </p:nvSpPr>
        <p:spPr>
          <a:xfrm>
            <a:off x="689458" y="660563"/>
            <a:ext cx="51206" cy="5120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3" name="Shape 31"/>
          <p:cNvSpPr/>
          <p:nvPr/>
        </p:nvSpPr>
        <p:spPr>
          <a:xfrm>
            <a:off x="661294" y="693847"/>
            <a:ext cx="107533" cy="89611"/>
          </a:xfrm>
          <a:prstGeom prst="chord">
            <a:avLst>
              <a:gd name="adj1" fmla="val 10800000"/>
              <a:gd name="adj2" fmla="val 21600000"/>
            </a:avLst>
          </a:prstGeom>
          <a:solidFill>
            <a:srgbClr val="FFFFFF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907085" y="48463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spc="100" kern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UNAD</a:t>
            </a:r>
            <a:endParaRPr lang="en-US" sz="1800" dirty="0"/>
          </a:p>
        </p:txBody>
      </p:sp>
      <p:sp>
        <p:nvSpPr>
          <p:cNvPr id="35" name="Text 33"/>
          <p:cNvSpPr txBox="1"/>
          <p:nvPr/>
        </p:nvSpPr>
        <p:spPr>
          <a:xfrm>
            <a:off x="907085" y="722376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CFE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Universidad Nacional Abierta y a Distancia</a:t>
            </a:r>
            <a:endParaRPr lang="en-US" sz="750" dirty="0"/>
          </a:p>
        </p:txBody>
      </p:sp>
      <p:pic>
        <p:nvPicPr>
          <p:cNvPr id="3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286000"/>
            <a:ext cx="685800" cy="685800"/>
          </a:xfrm>
          <a:prstGeom prst="rect">
            <a:avLst/>
          </a:prstGeom>
        </p:spPr>
      </p:pic>
      <p:sp>
        <p:nvSpPr>
          <p:cNvPr id="37" name="Text 34"/>
          <p:cNvSpPr txBox="1"/>
          <p:nvPr/>
        </p:nvSpPr>
        <p:spPr>
          <a:xfrm>
            <a:off x="502920" y="306324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5400" dirty="0"/>
          </a:p>
        </p:txBody>
      </p:sp>
      <p:sp>
        <p:nvSpPr>
          <p:cNvPr id="38" name="Text 35"/>
          <p:cNvSpPr txBox="1"/>
          <p:nvPr/>
        </p:nvSpPr>
        <p:spPr>
          <a:xfrm>
            <a:off x="548640" y="4114800"/>
            <a:ext cx="9601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i="1" dirty="0">
                <a:solidFill>
                  <a:srgbClr val="D9E8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 Mathieu’s choir, good teaching gives every learner a voice —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i="1" dirty="0">
                <a:solidFill>
                  <a:srgbClr val="D9E8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turns emotion into the first step of learning.</a:t>
            </a:r>
            <a:endParaRPr lang="en-US" sz="1800" dirty="0"/>
          </a:p>
        </p:txBody>
      </p:sp>
      <p:sp>
        <p:nvSpPr>
          <p:cNvPr id="39" name="Shape 36"/>
          <p:cNvSpPr/>
          <p:nvPr/>
        </p:nvSpPr>
        <p:spPr>
          <a:xfrm>
            <a:off x="566928" y="5394960"/>
            <a:ext cx="2103120" cy="32004"/>
          </a:xfrm>
          <a:prstGeom prst="roundRect">
            <a:avLst>
              <a:gd name="adj" fmla="val 57143"/>
            </a:avLst>
          </a:prstGeom>
          <a:solidFill>
            <a:srgbClr val="F2AD32"/>
          </a:solidFill>
          <a:ln/>
        </p:spPr>
      </p:sp>
      <p:sp>
        <p:nvSpPr>
          <p:cNvPr id="40" name="Text 37"/>
          <p:cNvSpPr txBox="1"/>
          <p:nvPr/>
        </p:nvSpPr>
        <p:spPr>
          <a:xfrm>
            <a:off x="548640" y="55778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CFE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Blanca Milena Sáenz Clavijo  ·  Bio-Pedagogical Characteristics of Education (523004A_2204)  ·  UNAD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UNAD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Chorus (2004) — Bio-Pedagogical Mediation</dc:title>
  <dc:subject>PptxGenJS Presentation</dc:subject>
  <dc:creator>Blanca Milena Sáenz Clavijo</dc:creator>
  <cp:lastModifiedBy>Blanca Milena Sáenz Clavijo</cp:lastModifiedBy>
  <cp:revision>1</cp:revision>
  <dcterms:created xsi:type="dcterms:W3CDTF">2026-10-14T21:23:05Z</dcterms:created>
  <dcterms:modified xsi:type="dcterms:W3CDTF">2026-10-14T21:23:05Z</dcterms:modified>
</cp:coreProperties>
</file>