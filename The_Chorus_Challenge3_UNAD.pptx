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an interactive session — tell the audience you'll ask for their voices throughout: a warm-up poll, discussion prompts, a hands-on activity and open debate. This presentation connects the film The Chorus (Les Choristes, 2004) with the bio-pedagogical concepts of Challenge 3: emotional climate, teacher mediation, positive emotions and motivation in foreign language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FACILITATION (3–4 min): Ask each question in turn. Take 2–3 voices per question; do not rush to the 'right' answer — the point is to surface emotion and motivation from the audience's own experience. Q3 can be a quick word-cloud in the chat. These answers are your hook: refer back to them during the theory and at the closing reflection.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GADGET: This is the live-participation tool. Before the session, set up a free Mentimeter (or Kahoot / Google Forms) word-cloud and swap the left QR for its join link so answers appear on screen in real time. The right QR always works — it opens the film on YouTube. Test both codes on your own phone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eight points move from the story to the theory and finish with a practical application for the Prototype Phase of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story is simple but powerful: a caring mediator transforms an institution built on fear. This is the narrative core we read through a bio-pedagogical lens.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film stages a contrast between two paradigms. Rachin represents transmission and control; Mathieu represents mediation and care. FACILITATION: Ask for a show of hands on each side — most will recognise both. Then ask one or two people to name a concrete behaviour that made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now move from the narrative to the five academic sources that frame Challenge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Pérez-Cárdenas gives us the central concept: bio-pedagogical mediation. Mathieu is a living example of each of these traits.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climate is not decoration — it is a condition for learning. These four moments show it at work in the film.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Broaden-and-build theory explains WHY the choir works: positive emotion expands the boys' thought-action repertoire and builds durable resources like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Méndez and Galeano give us the motivational layer: emotions drive participation and perseverance. Morhange's arc is the clearest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Niu widens the frame: language teaching carries values and ideology. The film shows music doing exactly that — a model for meaningful, transdisciplinary 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FACILITATION (~10 min): Run Think–Pair–Share. Keep time visibly. In the Share step, collect 2–3 'choir moments' and map each aloud to a bio-pedagogical trait and to one of the references. This activity feeds directly into the Prototype Phase checklist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checklist operationalises every reference into concrete design moves for the workshop's Prototype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FACILITATION (5–8 min): Let the audience choose. Invite one voice to take a position, then a counter-voice before you comment. Q3 is especially relevant for UNAD's distance-learning context — draw it out. Close by linking the discussion to the three takeaways coming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 synthesise the whole argument: mediation, emotion, and meaning. FACILITATION: Ask each participant to commit out loud (or in the chat) to ONE concrete change for the coming week. Tie it back to their warm-up answers from the start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six sources that frame Challenge 3, in APA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I'm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5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46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Chorus (2004) · Challenge 3 — Bio-Pedagogical Mediations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2600" y="3840480"/>
            <a:ext cx="3291840" cy="3291840"/>
          </a:xfrm>
          <a:prstGeom prst="ellipse">
            <a:avLst/>
          </a:prstGeom>
          <a:solidFill>
            <a:srgbClr val="1A4C2C"/>
          </a:solidFill>
          <a:ln/>
        </p:spPr>
      </p:sp>
      <p:sp>
        <p:nvSpPr>
          <p:cNvPr id="3" name="Shape 1"/>
          <p:cNvSpPr/>
          <p:nvPr/>
        </p:nvSpPr>
        <p:spPr>
          <a:xfrm>
            <a:off x="12035699" y="5407396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4" name="Shape 2"/>
          <p:cNvSpPr/>
          <p:nvPr/>
        </p:nvSpPr>
        <p:spPr>
          <a:xfrm rot="1800000">
            <a:off x="11866346" y="6039429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5" name="Shape 3"/>
          <p:cNvSpPr/>
          <p:nvPr/>
        </p:nvSpPr>
        <p:spPr>
          <a:xfrm rot="3600000">
            <a:off x="11403665" y="6502110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10771632" y="6671462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7" name="Shape 5"/>
          <p:cNvSpPr/>
          <p:nvPr/>
        </p:nvSpPr>
        <p:spPr>
          <a:xfrm rot="7200000">
            <a:off x="10139599" y="6502110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9676918" y="6039429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9507565" y="5407396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0" name="Shape 8"/>
          <p:cNvSpPr/>
          <p:nvPr/>
        </p:nvSpPr>
        <p:spPr>
          <a:xfrm rot="12600000">
            <a:off x="9676918" y="4775363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1" name="Shape 9"/>
          <p:cNvSpPr/>
          <p:nvPr/>
        </p:nvSpPr>
        <p:spPr>
          <a:xfrm rot="14400000">
            <a:off x="10139599" y="4312682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2" name="Shape 10"/>
          <p:cNvSpPr/>
          <p:nvPr/>
        </p:nvSpPr>
        <p:spPr>
          <a:xfrm rot="16200000">
            <a:off x="10771632" y="4143329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3" name="Shape 11"/>
          <p:cNvSpPr/>
          <p:nvPr/>
        </p:nvSpPr>
        <p:spPr>
          <a:xfrm rot="18000000">
            <a:off x="11403665" y="4312682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4" name="Shape 12"/>
          <p:cNvSpPr/>
          <p:nvPr/>
        </p:nvSpPr>
        <p:spPr>
          <a:xfrm rot="19800000">
            <a:off x="11866346" y="4775363"/>
            <a:ext cx="493776" cy="158008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30968" y="4498848"/>
            <a:ext cx="1975104" cy="1975104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6238" y="4874118"/>
            <a:ext cx="1224564" cy="1224564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70387" y="4972873"/>
            <a:ext cx="296266" cy="29626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761756" y="5348143"/>
            <a:ext cx="513527" cy="553029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 rot="-2520000">
            <a:off x="10524744" y="5190134"/>
            <a:ext cx="454274" cy="14813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 rot="2520000">
            <a:off x="11058022" y="5190134"/>
            <a:ext cx="454274" cy="14813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659" y="695054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2" name="Shape 20"/>
          <p:cNvSpPr/>
          <p:nvPr/>
        </p:nvSpPr>
        <p:spPr>
          <a:xfrm rot="1800000">
            <a:off x="866413" y="789274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797439" y="858247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4" name="Shape 22"/>
          <p:cNvSpPr/>
          <p:nvPr/>
        </p:nvSpPr>
        <p:spPr>
          <a:xfrm rot="5400000">
            <a:off x="703219" y="883493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609000" y="858247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6" name="Shape 24"/>
          <p:cNvSpPr/>
          <p:nvPr/>
        </p:nvSpPr>
        <p:spPr>
          <a:xfrm rot="9000000">
            <a:off x="540026" y="789274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7" name="Shape 25"/>
          <p:cNvSpPr/>
          <p:nvPr/>
        </p:nvSpPr>
        <p:spPr>
          <a:xfrm rot="10800000">
            <a:off x="514780" y="695054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8" name="Shape 26"/>
          <p:cNvSpPr/>
          <p:nvPr/>
        </p:nvSpPr>
        <p:spPr>
          <a:xfrm rot="12600000">
            <a:off x="540026" y="600834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9" name="Shape 27"/>
          <p:cNvSpPr/>
          <p:nvPr/>
        </p:nvSpPr>
        <p:spPr>
          <a:xfrm rot="14400000">
            <a:off x="609000" y="531860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0" name="Shape 28"/>
          <p:cNvSpPr/>
          <p:nvPr/>
        </p:nvSpPr>
        <p:spPr>
          <a:xfrm rot="16200000">
            <a:off x="703219" y="506614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1" name="Shape 29"/>
          <p:cNvSpPr/>
          <p:nvPr/>
        </p:nvSpPr>
        <p:spPr>
          <a:xfrm rot="18000000">
            <a:off x="797439" y="531860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2" name="Shape 30"/>
          <p:cNvSpPr/>
          <p:nvPr/>
        </p:nvSpPr>
        <p:spPr>
          <a:xfrm rot="19800000">
            <a:off x="866413" y="600834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3" name="Shape 31"/>
          <p:cNvSpPr/>
          <p:nvPr/>
        </p:nvSpPr>
        <p:spPr>
          <a:xfrm>
            <a:off x="592806" y="559613"/>
            <a:ext cx="294437" cy="294437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48749" y="615556"/>
            <a:ext cx="182551" cy="182551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5" name="Shape 33"/>
          <p:cNvSpPr/>
          <p:nvPr/>
        </p:nvSpPr>
        <p:spPr>
          <a:xfrm>
            <a:off x="710580" y="656777"/>
            <a:ext cx="58887" cy="5888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78192" y="695054"/>
            <a:ext cx="123663" cy="103053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60852" y="454457"/>
            <a:ext cx="2734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7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UNAD</a:t>
            </a:r>
            <a:endParaRPr lang="en-US" sz="2070" dirty="0"/>
          </a:p>
        </p:txBody>
      </p:sp>
      <p:sp>
        <p:nvSpPr>
          <p:cNvPr id="38" name="Text 36"/>
          <p:cNvSpPr txBox="1"/>
          <p:nvPr/>
        </p:nvSpPr>
        <p:spPr>
          <a:xfrm>
            <a:off x="960852" y="727862"/>
            <a:ext cx="34701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3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Abierta y a Distancia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2148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3  ·  BIO-PEDAGOGICAL MEDIATIONS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25146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Chorus (2004)</a:t>
            </a:r>
            <a:endParaRPr lang="en-US" sz="62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3611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Emotion, motivation and bio-pedagogical mediation in the teaching of a foreign language</a:t>
            </a:r>
            <a:endParaRPr lang="en-US" sz="1900" dirty="0"/>
          </a:p>
        </p:txBody>
      </p:sp>
      <p:sp>
        <p:nvSpPr>
          <p:cNvPr id="42" name="Shape 40"/>
          <p:cNvSpPr/>
          <p:nvPr/>
        </p:nvSpPr>
        <p:spPr>
          <a:xfrm>
            <a:off x="566928" y="4617720"/>
            <a:ext cx="2103120" cy="32004"/>
          </a:xfrm>
          <a:prstGeom prst="roundRect">
            <a:avLst>
              <a:gd name="adj" fmla="val 57143"/>
            </a:avLst>
          </a:prstGeom>
          <a:solidFill>
            <a:srgbClr val="F2AD3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48920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 </a:t>
            </a:r>
            <a:pPr algn="l" indent="0" marL="0">
              <a:buNone/>
            </a:pPr>
            <a:r>
              <a:rPr lang="en-US" sz="140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Bio-Pedagogical Characteristics of Education  (523004A_2204)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2303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 </a:t>
            </a:r>
            <a:pPr algn="l" indent="0" marL="0">
              <a:buNone/>
            </a:pPr>
            <a:r>
              <a:rPr lang="en-US" sz="140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Blanca Milena Sáenz Clavijo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School:  </a:t>
            </a:r>
            <a:pPr algn="l" indent="0" marL="0">
              <a:buNone/>
            </a:pPr>
            <a:r>
              <a:rPr lang="en-US" sz="140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Escuela de Ciencias de la Educación — ECEDU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48640" y="5806440"/>
            <a:ext cx="4709160" cy="475488"/>
          </a:xfrm>
          <a:prstGeom prst="roundRect">
            <a:avLst>
              <a:gd name="adj" fmla="val 50000"/>
            </a:avLst>
          </a:prstGeom>
          <a:solidFill>
            <a:srgbClr val="1A4C2C"/>
          </a:solidFill>
          <a:ln w="12700">
            <a:solidFill>
              <a:srgbClr val="F2AD32"/>
            </a:solidFill>
            <a:prstDash val="solid"/>
          </a:ln>
        </p:spPr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916168"/>
            <a:ext cx="256032" cy="256032"/>
          </a:xfrm>
          <a:prstGeom prst="rect">
            <a:avLst/>
          </a:prstGeom>
        </p:spPr>
      </p:pic>
      <p:sp>
        <p:nvSpPr>
          <p:cNvPr id="47" name="Text 44"/>
          <p:cNvSpPr txBox="1"/>
          <p:nvPr/>
        </p:nvSpPr>
        <p:spPr>
          <a:xfrm>
            <a:off x="1097280" y="580644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SESSION — YOUR VOICE MATTERS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BEGIN WITH YOU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 — raise your hand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theory, three quick questions. Raise your hand, call out, or drop a word in the chat — there are no wrong answers.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97380" y="2724912"/>
            <a:ext cx="822960" cy="82296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350" y="2938882"/>
            <a:ext cx="395021" cy="39502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6758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0690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teacher who changed how you FELT about learning. What did they do?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23774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692140" y="2724912"/>
            <a:ext cx="822960" cy="82296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110" y="2938882"/>
            <a:ext cx="395021" cy="3950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480560" y="36758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617720" y="40690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 YOU learn best — under pressure, or when you feel safe and motivated?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92440" y="23774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E4F0F8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86900" y="2724912"/>
            <a:ext cx="822960" cy="822960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0870" y="2938882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75320" y="36758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A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412480" y="40690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seen The Chorus? In one word, how did it make you feel?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02920" y="5715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your answer in mind — we will return to it at the end.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GADGET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Grab your phone — let's go live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your phone camera at a code. No app needed — you'll join straight from the browser.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5440680" cy="3840480"/>
          </a:xfrm>
          <a:prstGeom prst="roundRect">
            <a:avLst>
              <a:gd name="adj" fmla="val 238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423160"/>
            <a:ext cx="566928" cy="566928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641" y="257056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44144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WORD CLOUD</a:t>
            </a:r>
            <a:endParaRPr lang="en-US" sz="17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00400"/>
            <a:ext cx="1783080" cy="1783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834640" y="324612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your phone camera
</a:t>
            </a:r>
            <a:endParaRPr lang="en-US" sz="1350" dirty="0"/>
          </a:p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Scan the code
</a:t>
            </a:r>
            <a:endParaRPr lang="en-US" sz="1350" dirty="0"/>
          </a:p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 one word: </a:t>
            </a:r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a teacher make students feel?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822960" y="521208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replace this QR with your own Mentimeter / Kahoot / Google Forms link.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6309360" y="2148840"/>
            <a:ext cx="5394960" cy="3840480"/>
          </a:xfrm>
          <a:prstGeom prst="roundRect">
            <a:avLst>
              <a:gd name="adj" fmla="val 238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583680" y="2423160"/>
            <a:ext cx="566928" cy="566928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81" y="2570561"/>
            <a:ext cx="272125" cy="27212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69480" y="24414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 CHOIR SCENE</a:t>
            </a:r>
            <a:endParaRPr lang="en-US" sz="17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200400"/>
            <a:ext cx="1783080" cy="17830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641080" y="3246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watch The Chorus (2004) with Spanish subtitles on YouTube — perfect as a pre-task or a short live clip during the session.</a:t>
            </a:r>
            <a:endParaRPr lang="en-US" sz="1350" dirty="0"/>
          </a:p>
        </p:txBody>
      </p:sp>
      <p:sp>
        <p:nvSpPr>
          <p:cNvPr id="19" name="Text 12"/>
          <p:cNvSpPr txBox="1"/>
          <p:nvPr/>
        </p:nvSpPr>
        <p:spPr>
          <a:xfrm>
            <a:off x="6629400" y="5212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007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youtube.com/watch?v=uUZOVaPi4wo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04088" y="1828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980" y="1966692"/>
            <a:ext cx="254569" cy="25456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709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film at a glance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2075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Setting, characters and the central conflict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355080" y="1554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56248" y="1828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140" y="1966692"/>
            <a:ext cx="254569" cy="25456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69480" y="1709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 of pedagogy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269480" y="2075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&amp; punishment vs. mediation &amp; care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2697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04088" y="2971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980" y="3109692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2852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Bio-pedagogical mediation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417320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traits and transcendental change (Pérez-Cárdenas, 2021)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355080" y="2697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556248" y="2971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140" y="3109692"/>
            <a:ext cx="254569" cy="25456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269480" y="2852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emotional climate of learning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269480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presence and trust-building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502920" y="3840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704088" y="4114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80" y="4252692"/>
            <a:ext cx="254569" cy="25456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417320" y="3995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emotions broaden learning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1417320" y="4361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Broaden-and-build (MacIntyre &amp; Gregersen, 2012)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6355080" y="3840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556248" y="4114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4140" y="4252692"/>
            <a:ext cx="254569" cy="254569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269480" y="3995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Emotions as motivation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7269480" y="4361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and perseverance (Méndez, 2011; Galeano, 2022)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502920" y="4983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704088" y="5257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980" y="5395692"/>
            <a:ext cx="254569" cy="254569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417320" y="5138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 &amp; real-world meaning</a:t>
            </a:r>
            <a:endParaRPr lang="en-US" sz="1500" dirty="0"/>
          </a:p>
        </p:txBody>
      </p:sp>
      <p:sp>
        <p:nvSpPr>
          <p:cNvPr id="39" name="Text 29"/>
          <p:cNvSpPr txBox="1"/>
          <p:nvPr/>
        </p:nvSpPr>
        <p:spPr>
          <a:xfrm>
            <a:off x="1417320" y="5504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Transdisciplinary ELT (Niu, 2024)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6355080" y="4983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41" name="Shape 31"/>
          <p:cNvSpPr/>
          <p:nvPr/>
        </p:nvSpPr>
        <p:spPr>
          <a:xfrm>
            <a:off x="6556248" y="5257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4140" y="5395692"/>
            <a:ext cx="254569" cy="254569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9480" y="5138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film to Prototype Phase</a:t>
            </a:r>
            <a:endParaRPr lang="en-US" sz="1500" dirty="0"/>
          </a:p>
        </p:txBody>
      </p:sp>
      <p:sp>
        <p:nvSpPr>
          <p:cNvPr id="44" name="Text 33"/>
          <p:cNvSpPr txBox="1"/>
          <p:nvPr/>
        </p:nvSpPr>
        <p:spPr>
          <a:xfrm>
            <a:off x="7269480" y="5504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bio-pedagogical workshop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AT A GLANCE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choir that changes everything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600200"/>
            <a:ext cx="5943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France, 1949. Clément Mathieu, an unemployed musician, becomes a supervisor at “Fond de l’Étang”, a bleak boarding school for difficult boys. The headmaster, Rachin, rules through the motto “action – reaction”: surveillance and punishment. Mathieu chooses another path — he forms a choir, discovers Pierre Morhange’s remarkable voice, and gradually turns fear into trust, participation and hope.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4709160"/>
            <a:ext cx="5943600" cy="1325880"/>
          </a:xfrm>
          <a:prstGeom prst="roundRect">
            <a:avLst>
              <a:gd name="adj" fmla="val 689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89204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48463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“Never say never. There is always something to try.”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234440" y="5532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Clément Mathieu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766560" y="1600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986016" y="187452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908" y="2012412"/>
            <a:ext cx="254569" cy="25456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699248" y="1746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699248" y="2093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repressive boarding school, post-war France (1949)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766560" y="2743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986016" y="301752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908" y="3155412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99248" y="2889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Protagonist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699248" y="3236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Clément Mathieu — teacher as mediator, not warden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766560" y="3886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986016" y="416052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3908" y="4298412"/>
            <a:ext cx="254569" cy="25456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699248" y="4032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Conflict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699248" y="4379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by fear vs. education through relationship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6766560" y="5029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986016" y="530352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908" y="5441412"/>
            <a:ext cx="254569" cy="25456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699248" y="5175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point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7699248" y="5522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choir: voice, belonging and emotional change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OF PEDAGOGY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“action – reaction” to mediation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6EAE7"/>
          </a:solidFill>
          <a:ln w="12700">
            <a:solidFill>
              <a:srgbClr val="E3C9C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1600200"/>
            <a:ext cx="5440680" cy="868680"/>
          </a:xfrm>
          <a:prstGeom prst="roundRect">
            <a:avLst>
              <a:gd name="adj" fmla="val 10526"/>
            </a:avLst>
          </a:prstGeom>
          <a:solidFill>
            <a:srgbClr val="9E4B3B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2103120"/>
            <a:ext cx="5440680" cy="365760"/>
          </a:xfrm>
          <a:prstGeom prst="rect">
            <a:avLst/>
          </a:prstGeom>
          <a:solidFill>
            <a:srgbClr val="9E4B3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7099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Rachin — Control &amp; Punishment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4937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“Action – reaction”: every fault met with punishment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Fear, surveillance and silence as method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Extrinsic threat; motivation imposed from outside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is a problem to be contained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and humiliation; no voice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160020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EDF4E7"/>
          </a:solidFill>
          <a:ln w="12700">
            <a:solidFill>
              <a:srgbClr val="C7DCB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00200"/>
            <a:ext cx="5440680" cy="868680"/>
          </a:xfrm>
          <a:prstGeom prst="roundRect">
            <a:avLst>
              <a:gd name="adj" fmla="val 10526"/>
            </a:avLst>
          </a:prstGeom>
          <a:solidFill>
            <a:srgbClr val="4E9A3E"/>
          </a:solidFill>
          <a:ln/>
        </p:spPr>
      </p:sp>
      <p:sp>
        <p:nvSpPr>
          <p:cNvPr id="12" name="Shape 9"/>
          <p:cNvSpPr/>
          <p:nvPr/>
        </p:nvSpPr>
        <p:spPr>
          <a:xfrm>
            <a:off x="6355080" y="2103120"/>
            <a:ext cx="5440680" cy="365760"/>
          </a:xfrm>
          <a:prstGeom prst="rect">
            <a:avLst/>
          </a:prstGeom>
          <a:solidFill>
            <a:srgbClr val="4E9A3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17099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Mathieu — Mediation &amp; Care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2697480"/>
            <a:ext cx="4937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first: trust, respect and encouragement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climate that reduces fear and anxiety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motivation born from meaningful activity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is a person with talents to discover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and voice — literally, through the choir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5669280"/>
            <a:ext cx="11201400" cy="566928"/>
          </a:xfrm>
          <a:prstGeom prst="roundRect">
            <a:avLst>
              <a:gd name="adj" fmla="val 50000"/>
            </a:avLst>
          </a:prstGeom>
          <a:solidFill>
            <a:srgbClr val="EDF4E7"/>
          </a:solidFill>
          <a:ln w="12700">
            <a:solidFill>
              <a:srgbClr val="4E9A3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788152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23444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of hands:  </a:t>
            </a:r>
            <a:pPr algn="l" indent="0" marL="0"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classroom did YOU grow up in — and which one are you building?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05742" y="91074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11901891" y="167152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4" name="Shape 2"/>
          <p:cNvSpPr/>
          <p:nvPr/>
        </p:nvSpPr>
        <p:spPr>
          <a:xfrm rot="3600000">
            <a:off x="11344961" y="222845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10584180" y="2432304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6" name="Shape 4"/>
          <p:cNvSpPr/>
          <p:nvPr/>
        </p:nvSpPr>
        <p:spPr>
          <a:xfrm rot="7200000">
            <a:off x="9823399" y="222845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7" name="Shape 5"/>
          <p:cNvSpPr/>
          <p:nvPr/>
        </p:nvSpPr>
        <p:spPr>
          <a:xfrm rot="9000000">
            <a:off x="9266469" y="167152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062618" y="91074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9" name="Shape 7"/>
          <p:cNvSpPr/>
          <p:nvPr/>
        </p:nvSpPr>
        <p:spPr>
          <a:xfrm rot="12600000">
            <a:off x="9266469" y="14996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9823399" y="-406969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1" name="Shape 9"/>
          <p:cNvSpPr/>
          <p:nvPr/>
        </p:nvSpPr>
        <p:spPr>
          <a:xfrm rot="16200000">
            <a:off x="10584180" y="-610819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11344961" y="-406969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3" name="Shape 11"/>
          <p:cNvSpPr/>
          <p:nvPr/>
        </p:nvSpPr>
        <p:spPr>
          <a:xfrm rot="19800000">
            <a:off x="11901891" y="14996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4" name="Shape 12"/>
          <p:cNvSpPr/>
          <p:nvPr/>
        </p:nvSpPr>
        <p:spPr>
          <a:xfrm>
            <a:off x="9692640" y="-182880"/>
            <a:ext cx="2377440" cy="23774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44354" y="268834"/>
            <a:ext cx="1474013" cy="1474013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03052" y="387706"/>
            <a:ext cx="356616" cy="356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72293" y="839419"/>
            <a:ext cx="618134" cy="665683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 rot="-2520000">
            <a:off x="10287000" y="649224"/>
            <a:ext cx="546811" cy="178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 rot="2520000">
            <a:off x="10928909" y="649224"/>
            <a:ext cx="546811" cy="178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514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400" kern="0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803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film through</a:t>
            </a:r>
            <a:endParaRPr lang="en-US" sz="4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references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70916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lenses — mediation, emotional climate, positive emotions and motivation, values — connect the story to the bibliography of Challenge 3.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PÉREZ-CÁRDENAS (2021)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Bio-pedagogical mediation &amp; transcendental change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72768"/>
            <a:ext cx="11201400" cy="1097280"/>
          </a:xfrm>
          <a:prstGeom prst="roundRect">
            <a:avLst>
              <a:gd name="adj" fmla="val 8333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166420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Pedagogical mediation and key bio-pedagogical traits can drive transcendental changes in TEFL practice — teaching becomes an act of mediation and care, not mere transmission of content.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529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BIO-PEDAGOGICAL TRAITS EMBODIED BY MATHIEU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02920" y="320040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" y="3438144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807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99032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 &amp; affect</a:t>
            </a:r>
            <a:endParaRPr lang="en-US" sz="1450" dirty="0"/>
          </a:p>
        </p:txBody>
      </p:sp>
      <p:sp>
        <p:nvSpPr>
          <p:cNvPr id="13" name="Text 8"/>
          <p:cNvSpPr txBox="1"/>
          <p:nvPr/>
        </p:nvSpPr>
        <p:spPr>
          <a:xfrm>
            <a:off x="758952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protective bond replaces fear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4297680" y="320040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526280" y="3438144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926" y="3580790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193792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presence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4553712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is fully present with learners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8092440" y="320040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321040" y="3438144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3686" y="3580790"/>
            <a:ext cx="263347" cy="26334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88552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Mediation, not transmission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8348472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discovery instead of imposing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502920" y="4736592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731520" y="4974336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" y="5116982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399032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&amp; autonomy</a:t>
            </a:r>
            <a:endParaRPr lang="en-US" sz="1450" dirty="0"/>
          </a:p>
        </p:txBody>
      </p:sp>
      <p:sp>
        <p:nvSpPr>
          <p:cNvPr id="28" name="Text 20"/>
          <p:cNvSpPr txBox="1"/>
          <p:nvPr/>
        </p:nvSpPr>
        <p:spPr>
          <a:xfrm>
            <a:off x="758952" y="5577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boy finds his place in the choir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4297680" y="4736592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4526280" y="4974336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926" y="5116982"/>
            <a:ext cx="263347" cy="263347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193792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Sentipensante life</a:t>
            </a:r>
            <a:endParaRPr lang="en-US" sz="1450" dirty="0"/>
          </a:p>
        </p:txBody>
      </p:sp>
      <p:sp>
        <p:nvSpPr>
          <p:cNvPr id="33" name="Text 24"/>
          <p:cNvSpPr txBox="1"/>
          <p:nvPr/>
        </p:nvSpPr>
        <p:spPr>
          <a:xfrm>
            <a:off x="4553712" y="5577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and feeling educated together</a:t>
            </a:r>
            <a:endParaRPr lang="en-US" sz="1150" dirty="0"/>
          </a:p>
        </p:txBody>
      </p:sp>
      <p:sp>
        <p:nvSpPr>
          <p:cNvPr id="34" name="Shape 25"/>
          <p:cNvSpPr/>
          <p:nvPr/>
        </p:nvSpPr>
        <p:spPr>
          <a:xfrm>
            <a:off x="8092440" y="4736592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8321040" y="4974336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3686" y="5116982"/>
            <a:ext cx="263347" cy="263347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988552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Transcendental change</a:t>
            </a:r>
            <a:endParaRPr lang="en-US" sz="1450" dirty="0"/>
          </a:p>
        </p:txBody>
      </p:sp>
      <p:sp>
        <p:nvSpPr>
          <p:cNvPr id="38" name="Text 28"/>
          <p:cNvSpPr txBox="1"/>
          <p:nvPr/>
        </p:nvSpPr>
        <p:spPr>
          <a:xfrm>
            <a:off x="8348472" y="5577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— not just grades — are transformed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EMOTIONAL CLIMATE OF LEARNING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presence transforms the classroom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Guide invites us to notice how emotional climate, relational presence and teacher mediation reshape learning. In the film these appear as concrete, observable moments.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467612" y="2651760"/>
            <a:ext cx="768096" cy="768096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317" y="2851465"/>
            <a:ext cx="368686" cy="368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Emotional resonance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22376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reaches the boys where discipline never could — feeling becomes the doorway to learning.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55848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0540" y="2651760"/>
            <a:ext cx="768096" cy="768096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245" y="2851465"/>
            <a:ext cx="368686" cy="36868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38728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Trust-building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3575304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Mathieu protects and believes in the boys; safety makes participation possible.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08776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173468" y="2651760"/>
            <a:ext cx="768096" cy="768096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173" y="2851465"/>
            <a:ext cx="368686" cy="36868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91656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Embodied interaction</a:t>
            </a:r>
            <a:endParaRPr lang="en-US" sz="1550" dirty="0"/>
          </a:p>
        </p:txBody>
      </p:sp>
      <p:sp>
        <p:nvSpPr>
          <p:cNvPr id="20" name="Text 14"/>
          <p:cNvSpPr txBox="1"/>
          <p:nvPr/>
        </p:nvSpPr>
        <p:spPr>
          <a:xfrm>
            <a:off x="6428232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Gesture, voice and presence — learning is lived, not just explained.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9061704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10026396" y="2651760"/>
            <a:ext cx="768096" cy="768096"/>
          </a:xfrm>
          <a:prstGeom prst="ellipse">
            <a:avLst/>
          </a:prstGeom>
          <a:solidFill>
            <a:srgbClr val="1F5E34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6101" y="2851465"/>
            <a:ext cx="368686" cy="36868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44584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Ecological change</a:t>
            </a:r>
            <a:endParaRPr lang="en-US" sz="1550" dirty="0"/>
          </a:p>
        </p:txBody>
      </p:sp>
      <p:sp>
        <p:nvSpPr>
          <p:cNvPr id="25" name="Text 18"/>
          <p:cNvSpPr txBox="1"/>
          <p:nvPr/>
        </p:nvSpPr>
        <p:spPr>
          <a:xfrm>
            <a:off x="9281160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climate warms, the whole school ecosystem shifts toward hope.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502920" y="5715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emotional tone of a workshop shapes engagement as much as its content.”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MACINTYRE &amp; GREGERSEN (2012)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emotions broaden &amp; build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emotions broaden learners’ cognitive and behavioural possibilities and, over time, build lasting personal resources. Imagination widens what learners believe they can do.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60220" y="2697480"/>
            <a:ext cx="731520" cy="73152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415" y="2887675"/>
            <a:ext cx="351130" cy="3511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emotion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Joy, pride and hope in the choir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8768" y="3337560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434840" y="24231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5692140" y="2697480"/>
            <a:ext cx="731520" cy="73152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335" y="2887675"/>
            <a:ext cx="351130" cy="35113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61772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Broadened thought–action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4663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Curiosity, risk-taking, imagination open up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0688" y="3337560"/>
            <a:ext cx="457200" cy="4572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366760" y="24231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9624060" y="2697480"/>
            <a:ext cx="731520" cy="731520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4255" y="2887675"/>
            <a:ext cx="351130" cy="35113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54964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resources</a:t>
            </a:r>
            <a:endParaRPr lang="en-US" sz="1600" dirty="0"/>
          </a:p>
        </p:txBody>
      </p:sp>
      <p:sp>
        <p:nvSpPr>
          <p:cNvPr id="22" name="Text 14"/>
          <p:cNvSpPr txBox="1"/>
          <p:nvPr/>
        </p:nvSpPr>
        <p:spPr>
          <a:xfrm>
            <a:off x="859536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skill and resilience endure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502920" y="5029200"/>
            <a:ext cx="11201400" cy="1005840"/>
          </a:xfrm>
          <a:prstGeom prst="roundRect">
            <a:avLst>
              <a:gd name="adj" fmla="val 9091"/>
            </a:avLst>
          </a:prstGeom>
          <a:solidFill>
            <a:srgbClr val="EDF4E7"/>
          </a:solidFill>
          <a:ln w="12700">
            <a:solidFill>
              <a:srgbClr val="C7DCBB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85232"/>
            <a:ext cx="457200" cy="4572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417320" y="51389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film:  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fearful, shut-down boys of the opening scenes become curious, confident singers — positive emotion literally broadens what they attempt and builds who they become.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MÉNDEZ (2011) · GALEANO (2022)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Emotions as the engine of motivation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Emotions are not the opposite of reason in learning — they are motivational drivers. Méndez shows how emotional states shape motivation in foreign language learning; Galeano’s UNAD OVI maps its motivational components.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0664" y="2569464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56" y="2707356"/>
            <a:ext cx="254569" cy="25456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Participation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480560" y="2423160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 invites learners to take part and speak up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02920" y="3355848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40664" y="3502152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556" y="3640044"/>
            <a:ext cx="254569" cy="2545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335584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Perseverance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480560" y="3355848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engagement sustains effort through difficulty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02920" y="4288536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40664" y="443484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56" y="4572732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428853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Self-esteem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4288536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and recognition strengthen the learner’s self-image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02920" y="5221224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40664" y="5367528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56" y="5505420"/>
            <a:ext cx="254569" cy="25456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463040" y="5221224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motivation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5221224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becomes rewarding in itself — like singing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NIU (2024)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Values, ideology &amp; real-world meaning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transdisciplinary approach to ELT connects language with values and ideology in real-world contexts — pursuing authentic communicative purposes, social relevance and ecological coherence. In the film, music is never ‘just’ music: it carries dignity, hope and solidarity.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9264" y="4087368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910" y="4230014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Dignity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2130552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596896" y="4087368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542" y="4230014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130552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Hope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3758184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224528" y="4087368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174" y="4230014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758184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Solidarity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5385816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5852160" y="4087368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806" y="4230014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385816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Respect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502920" y="5486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 purpose · social relevance · ecological coherence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7269480" y="1554480"/>
            <a:ext cx="4434840" cy="4297680"/>
          </a:xfrm>
          <a:prstGeom prst="roundRect">
            <a:avLst>
              <a:gd name="adj" fmla="val 2553"/>
            </a:avLst>
          </a:prstGeom>
          <a:solidFill>
            <a:srgbClr val="1F5E34"/>
          </a:solidFill>
          <a:ln/>
        </p:spPr>
      </p:sp>
      <p:sp>
        <p:nvSpPr>
          <p:cNvPr id="24" name="Shape 17"/>
          <p:cNvSpPr/>
          <p:nvPr/>
        </p:nvSpPr>
        <p:spPr>
          <a:xfrm>
            <a:off x="11473343" y="4849612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5" name="Shape 18"/>
          <p:cNvSpPr/>
          <p:nvPr/>
        </p:nvSpPr>
        <p:spPr>
          <a:xfrm rot="1800000">
            <a:off x="11382394" y="518903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6" name="Shape 19"/>
          <p:cNvSpPr/>
          <p:nvPr/>
        </p:nvSpPr>
        <p:spPr>
          <a:xfrm rot="3600000">
            <a:off x="11133917" y="5437514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7" name="Shape 20"/>
          <p:cNvSpPr/>
          <p:nvPr/>
        </p:nvSpPr>
        <p:spPr>
          <a:xfrm rot="5400000">
            <a:off x="10794492" y="5528462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8" name="Shape 21"/>
          <p:cNvSpPr/>
          <p:nvPr/>
        </p:nvSpPr>
        <p:spPr>
          <a:xfrm rot="7200000">
            <a:off x="10455067" y="5437514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9" name="Shape 22"/>
          <p:cNvSpPr/>
          <p:nvPr/>
        </p:nvSpPr>
        <p:spPr>
          <a:xfrm rot="9000000">
            <a:off x="10206590" y="518903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0" name="Shape 23"/>
          <p:cNvSpPr/>
          <p:nvPr/>
        </p:nvSpPr>
        <p:spPr>
          <a:xfrm rot="10800000">
            <a:off x="10115641" y="4849612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1" name="Shape 24"/>
          <p:cNvSpPr/>
          <p:nvPr/>
        </p:nvSpPr>
        <p:spPr>
          <a:xfrm rot="12600000">
            <a:off x="10206590" y="451018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2" name="Shape 25"/>
          <p:cNvSpPr/>
          <p:nvPr/>
        </p:nvSpPr>
        <p:spPr>
          <a:xfrm rot="14400000">
            <a:off x="10455067" y="4261710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3" name="Shape 26"/>
          <p:cNvSpPr/>
          <p:nvPr/>
        </p:nvSpPr>
        <p:spPr>
          <a:xfrm rot="16200000">
            <a:off x="10794492" y="4170761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4" name="Shape 27"/>
          <p:cNvSpPr/>
          <p:nvPr/>
        </p:nvSpPr>
        <p:spPr>
          <a:xfrm rot="18000000">
            <a:off x="11133917" y="4261710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5" name="Shape 28"/>
          <p:cNvSpPr/>
          <p:nvPr/>
        </p:nvSpPr>
        <p:spPr>
          <a:xfrm rot="19800000">
            <a:off x="11382394" y="451018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6" name="Shape 29"/>
          <p:cNvSpPr/>
          <p:nvPr/>
        </p:nvSpPr>
        <p:spPr>
          <a:xfrm>
            <a:off x="10396728" y="4361688"/>
            <a:ext cx="1060704" cy="1060704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37" name="Shape 30"/>
          <p:cNvSpPr/>
          <p:nvPr/>
        </p:nvSpPr>
        <p:spPr>
          <a:xfrm>
            <a:off x="10598262" y="4563222"/>
            <a:ext cx="657636" cy="657636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8" name="Shape 31"/>
          <p:cNvSpPr/>
          <p:nvPr/>
        </p:nvSpPr>
        <p:spPr>
          <a:xfrm>
            <a:off x="10847527" y="4616257"/>
            <a:ext cx="159106" cy="15910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2"/>
          <p:cNvSpPr/>
          <p:nvPr/>
        </p:nvSpPr>
        <p:spPr>
          <a:xfrm>
            <a:off x="10789188" y="4817791"/>
            <a:ext cx="275783" cy="296997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40" name="Shape 33"/>
          <p:cNvSpPr/>
          <p:nvPr/>
        </p:nvSpPr>
        <p:spPr>
          <a:xfrm rot="-2520000">
            <a:off x="10661904" y="4732934"/>
            <a:ext cx="243962" cy="7955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1" name="Shape 34"/>
          <p:cNvSpPr/>
          <p:nvPr/>
        </p:nvSpPr>
        <p:spPr>
          <a:xfrm rot="2520000">
            <a:off x="10948294" y="4732934"/>
            <a:ext cx="243962" cy="7955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192024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589520" y="2834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+ life</a:t>
            </a:r>
            <a:endParaRPr lang="en-US" sz="2200" dirty="0"/>
          </a:p>
        </p:txBody>
      </p:sp>
      <p:sp>
        <p:nvSpPr>
          <p:cNvPr id="44" name="Text 36"/>
          <p:cNvSpPr txBox="1"/>
          <p:nvPr/>
        </p:nvSpPr>
        <p:spPr>
          <a:xfrm>
            <a:off x="7589520" y="3383280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learning English is tied to real values and meaning, it becomes a transformative, transdisciplinary experience — exactly the ambition of the Prototype Phase.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HANDS 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Activity: design a “choir moment”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theory into practice — create one small moment where positive emotion unlocks learning.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578608"/>
            <a:ext cx="749808" cy="749808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190" y="2773558"/>
            <a:ext cx="359908" cy="3599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880360" y="2670048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E9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32" y="27614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273552" y="267004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77724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Think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95528" y="402336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 moment when a feeling — safety, pride, curiosity — unlocked learning for you or a student.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97680" y="228600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572000" y="2578608"/>
            <a:ext cx="749808" cy="749808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950" y="2773558"/>
            <a:ext cx="359908" cy="3599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675120" y="2670048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AD3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76148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68312" y="267004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457200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Pair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4590288" y="402336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it with a partner. Together, name the bio-pedagogical trait at work (care, voice, mediation…).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092440" y="228600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E4F0F8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8366760" y="2578608"/>
            <a:ext cx="749808" cy="749808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1710" y="2773558"/>
            <a:ext cx="359908" cy="35990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10469880" y="2670048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AC8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8752" y="2761488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0863072" y="267004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836676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Share</a:t>
            </a:r>
            <a:endParaRPr lang="en-US" sz="1800" dirty="0"/>
          </a:p>
        </p:txBody>
      </p:sp>
      <p:sp>
        <p:nvSpPr>
          <p:cNvPr id="29" name="Text 20"/>
          <p:cNvSpPr txBox="1"/>
          <p:nvPr/>
        </p:nvSpPr>
        <p:spPr>
          <a:xfrm>
            <a:off x="8385048" y="402336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ONE classroom “choir moment” that activates imagination and reduces fear. Tell the group.</a:t>
            </a:r>
            <a:endParaRPr lang="en-US" sz="1300" dirty="0"/>
          </a:p>
        </p:txBody>
      </p:sp>
      <p:sp>
        <p:nvSpPr>
          <p:cNvPr id="30" name="Text 21"/>
          <p:cNvSpPr txBox="1"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→ Pair → Share  ·  keep it to ~10 minutes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film to your Prototype Phase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bio-pedagogical workshop, inspired by Mathieu, aligns activities, mediation and didactic sequence with the emotional design of learning. Use this checklist to build it.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22376" y="2587752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22376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4688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Activate imagination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8346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a task that sparks curiosity and possibility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17920" y="228600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37376" y="2587752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37376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132320" y="24688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fear &amp; anxiety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28346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safe climate before demanding performance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" y="3538728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2376" y="3840480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22376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3721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confidence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4087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small wins so every learner succeeds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217920" y="3538728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37376" y="3840480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37376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132320" y="3721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emotional resonance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132320" y="4087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content that moves, not only informs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4791456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22376" y="5093208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2376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1417320" y="49743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Mediate, don’t transmit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417320" y="53400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discovery; give learners real voice and choice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217920" y="4791456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437376" y="5093208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437376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9743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the didactic sequence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7132320" y="53400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activities, mediation and assessment to bio-pedagogical traits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DISCUSS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floor — think, challenge, share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question that provokes you most. Agree, disagree, bring an example — the richer the disagreement, the better.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706624"/>
            <a:ext cx="731520" cy="73152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" y="2896819"/>
            <a:ext cx="351130" cy="3511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468880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every teacher be a “Mathieu”, or does the system (Rachin) always win?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217920" y="2286000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92240" y="2706624"/>
            <a:ext cx="731520" cy="73152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435" y="2896819"/>
            <a:ext cx="351130" cy="35113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06640" y="2468880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emotion a means to learning — or a goal of education in itself?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502920" y="4041648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77240" y="4462272"/>
            <a:ext cx="731520" cy="73152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" y="4652467"/>
            <a:ext cx="351130" cy="35113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91640" y="4224528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online / distance learning, how do we build emotional climate and relational presence?</a:t>
            </a:r>
            <a:endParaRPr lang="en-US" sz="1550" dirty="0"/>
          </a:p>
        </p:txBody>
      </p:sp>
      <p:sp>
        <p:nvSpPr>
          <p:cNvPr id="18" name="Shape 12"/>
          <p:cNvSpPr/>
          <p:nvPr/>
        </p:nvSpPr>
        <p:spPr>
          <a:xfrm>
            <a:off x="6217920" y="4041648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492240" y="4462272"/>
            <a:ext cx="731520" cy="73152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2435" y="4652467"/>
            <a:ext cx="351130" cy="35113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406640" y="4224528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single bio-pedagogical trait would most change YOUR classroom tomorrow?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ideas to carry forward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691640"/>
            <a:ext cx="3611880" cy="3383280"/>
          </a:xfrm>
          <a:prstGeom prst="roundRect">
            <a:avLst>
              <a:gd name="adj" fmla="val 2703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984248"/>
            <a:ext cx="822960" cy="82296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210" y="2198218"/>
            <a:ext cx="395021" cy="3950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004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CFE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758952" y="2971800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teacher is a mediator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58952" y="384048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controller. The quality of the relationship decides whether learning happens — the core bio-pedagogical shift (Pérez-Cárdenas, 2021).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1691640"/>
            <a:ext cx="3611880" cy="3383280"/>
          </a:xfrm>
          <a:prstGeom prst="roundRect">
            <a:avLst>
              <a:gd name="adj" fmla="val 2703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1984248"/>
            <a:ext cx="822960" cy="82296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970" y="2198218"/>
            <a:ext cx="395021" cy="3950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9516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BD9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0"/>
          <p:cNvSpPr txBox="1"/>
          <p:nvPr/>
        </p:nvSpPr>
        <p:spPr>
          <a:xfrm>
            <a:off x="4553712" y="2971800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 powers learning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553712" y="384048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emotions broaden and build (MacIntyre &amp; Gregersen, 2012) and drive motivation (Méndez, 2011; Galeano, 2022).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092440" y="1691640"/>
            <a:ext cx="3611880" cy="3383280"/>
          </a:xfrm>
          <a:prstGeom prst="roundRect">
            <a:avLst>
              <a:gd name="adj" fmla="val 2703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66760" y="1984248"/>
            <a:ext cx="822960" cy="822960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0730" y="2198218"/>
            <a:ext cx="395021" cy="39502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78992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CFE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1" name="Text 15"/>
          <p:cNvSpPr txBox="1"/>
          <p:nvPr/>
        </p:nvSpPr>
        <p:spPr>
          <a:xfrm>
            <a:off x="8348472" y="2971800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makes it transformative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348472" y="384048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Tying language to values and real life (Niu, 2024) turns a lesson into a transcendental change — as the choir did for the boys.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02920" y="5349240"/>
            <a:ext cx="11201400" cy="65836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25880" y="5349240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commitment:  </a:t>
            </a:r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idea and name one change you will make in your teaching this week.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BIBLIOGRAPHICAL REFERENCES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— APA 7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01368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01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1600200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 R. (2023, May 14). The Chorus (2004) – 720p (with Spanish subtitles) [Video]. YouTube. https://www.youtube.com/watch?v=uUZOVaPi4wo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86584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6F9F3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2587752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61872" y="2386584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MacIntyre, P., &amp; Gregersen, T. (2012). Emotions that facilitate language learning: The positive-broadening power of the imagination. Studies in Second Language Learning and Teaching, 2(2), 193–213. https://files.eric.ed.gov/fulltext/EJ1135856.pdf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72968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3374136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1520" y="3374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172968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Méndez, M. (2011). The motivational properties of emotions in Foreign Language Learning. Colombian Applied Linguistics Journal, 13(2), 43–59. http://www.scielo.org.co/scielo.php?script=sci_arttext&amp;pid=S0123-46412011000200004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59352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6F9F3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4160520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4160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261872" y="3959352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Niu, P. (2024). A transdisciplinary approach to ELT: Teaching values and ideology in real-world context. Curriculum and Teaching Methodology, 7(1), 190–195.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45736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946904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31520" y="4946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61872" y="4745736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Pérez-Cárdenas, L. V. (2021). De la mediación pedagógica y los rasgos clave biopedagógicos hacia los cambios trascendentales en las prácticas de TEFL. EducAcción Sentipensante, 1(1), 47–57. https://doi.org/10.22490/28057597.5428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532120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6F9F3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1520" y="5733288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31520" y="5733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261872" y="5532120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Galeano, H. (2022). Motivational Components in Foreign Language Learning [Objeto virtual de información – OVI]. Repositorio Institucional UNAD. https://repository.unad.edu.co/handle/10596/49140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51960"/>
            <a:ext cx="3383280" cy="3383280"/>
          </a:xfrm>
          <a:prstGeom prst="ellipse">
            <a:avLst/>
          </a:prstGeom>
          <a:solidFill>
            <a:srgbClr val="1A4C2C"/>
          </a:solidFill>
          <a:ln/>
        </p:spPr>
      </p:sp>
      <p:sp>
        <p:nvSpPr>
          <p:cNvPr id="3" name="Shape 1"/>
          <p:cNvSpPr/>
          <p:nvPr/>
        </p:nvSpPr>
        <p:spPr>
          <a:xfrm>
            <a:off x="11981932" y="5861670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4" name="Shape 2"/>
          <p:cNvSpPr/>
          <p:nvPr/>
        </p:nvSpPr>
        <p:spPr>
          <a:xfrm rot="1800000">
            <a:off x="11806307" y="6517112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5" name="Shape 3"/>
          <p:cNvSpPr/>
          <p:nvPr/>
        </p:nvSpPr>
        <p:spPr>
          <a:xfrm rot="3600000">
            <a:off x="11326490" y="6996928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10671048" y="7172554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7" name="Shape 5"/>
          <p:cNvSpPr/>
          <p:nvPr/>
        </p:nvSpPr>
        <p:spPr>
          <a:xfrm rot="7200000">
            <a:off x="10015606" y="6996928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9535789" y="6517112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9360164" y="5861670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0" name="Shape 8"/>
          <p:cNvSpPr/>
          <p:nvPr/>
        </p:nvSpPr>
        <p:spPr>
          <a:xfrm rot="12600000">
            <a:off x="9535789" y="5206228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1" name="Shape 9"/>
          <p:cNvSpPr/>
          <p:nvPr/>
        </p:nvSpPr>
        <p:spPr>
          <a:xfrm rot="14400000">
            <a:off x="10015606" y="4726411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2" name="Shape 10"/>
          <p:cNvSpPr/>
          <p:nvPr/>
        </p:nvSpPr>
        <p:spPr>
          <a:xfrm rot="16200000">
            <a:off x="10671048" y="4550786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3" name="Shape 11"/>
          <p:cNvSpPr/>
          <p:nvPr/>
        </p:nvSpPr>
        <p:spPr>
          <a:xfrm rot="18000000">
            <a:off x="11326490" y="4726411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4" name="Shape 12"/>
          <p:cNvSpPr/>
          <p:nvPr/>
        </p:nvSpPr>
        <p:spPr>
          <a:xfrm rot="19800000">
            <a:off x="11806307" y="5206228"/>
            <a:ext cx="512064" cy="163860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9902952" y="4919472"/>
            <a:ext cx="2048256" cy="2048256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92121" y="5308641"/>
            <a:ext cx="1269919" cy="1269919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73461" y="5411053"/>
            <a:ext cx="307238" cy="307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660807" y="5800222"/>
            <a:ext cx="532547" cy="573512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 rot="-2520000">
            <a:off x="10415016" y="5636362"/>
            <a:ext cx="471099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 rot="2520000">
            <a:off x="10968045" y="5636362"/>
            <a:ext cx="471099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659" y="722486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2" name="Shape 20"/>
          <p:cNvSpPr/>
          <p:nvPr/>
        </p:nvSpPr>
        <p:spPr>
          <a:xfrm rot="1800000">
            <a:off x="866413" y="816706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797439" y="885679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4" name="Shape 22"/>
          <p:cNvSpPr/>
          <p:nvPr/>
        </p:nvSpPr>
        <p:spPr>
          <a:xfrm rot="5400000">
            <a:off x="703219" y="910925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609000" y="885679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6" name="Shape 24"/>
          <p:cNvSpPr/>
          <p:nvPr/>
        </p:nvSpPr>
        <p:spPr>
          <a:xfrm rot="9000000">
            <a:off x="540026" y="816706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7" name="Shape 25"/>
          <p:cNvSpPr/>
          <p:nvPr/>
        </p:nvSpPr>
        <p:spPr>
          <a:xfrm rot="10800000">
            <a:off x="514780" y="722486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8" name="Shape 26"/>
          <p:cNvSpPr/>
          <p:nvPr/>
        </p:nvSpPr>
        <p:spPr>
          <a:xfrm rot="12600000">
            <a:off x="540026" y="628266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9" name="Shape 27"/>
          <p:cNvSpPr/>
          <p:nvPr/>
        </p:nvSpPr>
        <p:spPr>
          <a:xfrm rot="14400000">
            <a:off x="609000" y="559292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0" name="Shape 28"/>
          <p:cNvSpPr/>
          <p:nvPr/>
        </p:nvSpPr>
        <p:spPr>
          <a:xfrm rot="16200000">
            <a:off x="703219" y="534046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1" name="Shape 29"/>
          <p:cNvSpPr/>
          <p:nvPr/>
        </p:nvSpPr>
        <p:spPr>
          <a:xfrm rot="18000000">
            <a:off x="797439" y="559292"/>
            <a:ext cx="73609" cy="2355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2" name="Shape 30"/>
          <p:cNvSpPr/>
          <p:nvPr/>
        </p:nvSpPr>
        <p:spPr>
          <a:xfrm rot="19800000">
            <a:off x="866413" y="628266"/>
            <a:ext cx="73609" cy="2355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3" name="Shape 31"/>
          <p:cNvSpPr/>
          <p:nvPr/>
        </p:nvSpPr>
        <p:spPr>
          <a:xfrm>
            <a:off x="592806" y="587045"/>
            <a:ext cx="294437" cy="294437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48749" y="642988"/>
            <a:ext cx="182551" cy="182551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5" name="Shape 33"/>
          <p:cNvSpPr/>
          <p:nvPr/>
        </p:nvSpPr>
        <p:spPr>
          <a:xfrm>
            <a:off x="710580" y="684209"/>
            <a:ext cx="58887" cy="5888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78192" y="722486"/>
            <a:ext cx="123663" cy="103053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60852" y="481889"/>
            <a:ext cx="2734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7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UNAD</a:t>
            </a:r>
            <a:endParaRPr lang="en-US" sz="2070" dirty="0"/>
          </a:p>
        </p:txBody>
      </p:sp>
      <p:sp>
        <p:nvSpPr>
          <p:cNvPr id="38" name="Text 36"/>
          <p:cNvSpPr txBox="1"/>
          <p:nvPr/>
        </p:nvSpPr>
        <p:spPr>
          <a:xfrm>
            <a:off x="960852" y="755294"/>
            <a:ext cx="34701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3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Abierta y a Distancia</a:t>
            </a:r>
            <a:endParaRPr lang="en-US" sz="863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86000"/>
            <a:ext cx="685800" cy="68580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50292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41148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Mathieu’s choir, good teaching gives every learner a voice —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turns emotion into the first step of learning.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66928" y="5394960"/>
            <a:ext cx="2103120" cy="32004"/>
          </a:xfrm>
          <a:prstGeom prst="roundRect">
            <a:avLst>
              <a:gd name="adj" fmla="val 57143"/>
            </a:avLst>
          </a:prstGeom>
          <a:solidFill>
            <a:srgbClr val="F2AD3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548640" y="5577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Blanca Milena Sáenz Clavijo  ·  Bio-Pedagogical Characteristics of Education (523004A_2204)  ·  UNAD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UNAD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Chorus (2004) — Bio-Pedagogical Mediation</dc:title>
  <dc:subject>PptxGenJS Presentation</dc:subject>
  <dc:creator>Blanca Milena Sáenz Clavijo</dc:creator>
  <cp:lastModifiedBy>Blanca Milena Sáenz Clavijo</cp:lastModifiedBy>
  <cp:revision>1</cp:revision>
  <dcterms:created xsi:type="dcterms:W3CDTF">2026-10-14T21:42:39Z</dcterms:created>
  <dcterms:modified xsi:type="dcterms:W3CDTF">2026-10-14T21:42:39Z</dcterms:modified>
</cp:coreProperties>
</file>