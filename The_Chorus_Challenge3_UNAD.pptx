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connects the film The Chorus (Les Choristes, 2004) with the bio-pedagogical concepts of Challenge 3: emotional climate, teacher mediation, positive emotions and motivation in foreign language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eight points move from the story to the theory and finish with a practical application for the Prototype Phase of the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story is simple but powerful: a caring mediator transforms an institution built on fear. This is the narrative core we read through a bio-pedagogical lens.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film stages a contrast between two paradigms. Rachin represents transmission and control; Mathieu represents mediation and care — the shift at the heart of bio-pedagogy.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now move from the narrative to the five academic sources that frame Challenge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Pérez-Cárdenas gives us the central concept: bio-pedagogical mediation. Mathieu is a living example of each of these traits.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Emotional climate is not decoration — it is a condition for learning. These four moments show it at work in the film.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Broaden-and-build theory explains WHY the choir works: positive emotion expands the boys' thought-action repertoire and builds durable resources like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Méndez and Galeano give us the motivational layer: emotions drive participation and perseverance. Morhange's arc is the clearest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Niu widens the frame: language teaching carries values and ideology. The film shows music doing exactly that — a model for meaningful, transdisciplinary ELT.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checklist operationalises every reference into concrete design moves for the workshop's Prototype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takeaways synthesise the whole argument: mediation, emotion, and meaning as the pillars of bio-pedagogical language teaching.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six sources that frame Challenge 3, in APA 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I'm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3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F5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446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Chorus (2004) · Challenge 3 — Bio-Pedagogical Mediations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5E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3272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2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3272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2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87961" y="5896051"/>
            <a:ext cx="868680" cy="277978"/>
          </a:xfrm>
          <a:prstGeom prst="roundRect">
            <a:avLst>
              <a:gd name="adj" fmla="val 50000"/>
            </a:avLst>
          </a:prstGeom>
          <a:solidFill>
            <a:srgbClr val="1F5E34"/>
          </a:solidFill>
          <a:ln/>
        </p:spPr>
      </p:sp>
      <p:sp>
        <p:nvSpPr>
          <p:cNvPr id="3" name="Shape 1"/>
          <p:cNvSpPr/>
          <p:nvPr/>
        </p:nvSpPr>
        <p:spPr>
          <a:xfrm rot="1800000">
            <a:off x="12190025" y="7007962"/>
            <a:ext cx="868680" cy="277978"/>
          </a:xfrm>
          <a:prstGeom prst="roundRect">
            <a:avLst>
              <a:gd name="adj" fmla="val 50000"/>
            </a:avLst>
          </a:prstGeom>
          <a:solidFill>
            <a:srgbClr val="1F5E34"/>
          </a:solidFill>
          <a:ln/>
        </p:spPr>
      </p:sp>
      <p:sp>
        <p:nvSpPr>
          <p:cNvPr id="4" name="Shape 2"/>
          <p:cNvSpPr/>
          <p:nvPr/>
        </p:nvSpPr>
        <p:spPr>
          <a:xfrm rot="3600000">
            <a:off x="11376050" y="7821937"/>
            <a:ext cx="868680" cy="277978"/>
          </a:xfrm>
          <a:prstGeom prst="roundRect">
            <a:avLst>
              <a:gd name="adj" fmla="val 50000"/>
            </a:avLst>
          </a:prstGeom>
          <a:solidFill>
            <a:srgbClr val="1F5E34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10264140" y="8119872"/>
            <a:ext cx="868680" cy="277978"/>
          </a:xfrm>
          <a:prstGeom prst="roundRect">
            <a:avLst>
              <a:gd name="adj" fmla="val 50000"/>
            </a:avLst>
          </a:prstGeom>
          <a:solidFill>
            <a:srgbClr val="1F5E34"/>
          </a:solidFill>
          <a:ln/>
        </p:spPr>
      </p:sp>
      <p:sp>
        <p:nvSpPr>
          <p:cNvPr id="6" name="Shape 4"/>
          <p:cNvSpPr/>
          <p:nvPr/>
        </p:nvSpPr>
        <p:spPr>
          <a:xfrm rot="7200000">
            <a:off x="9152230" y="7821937"/>
            <a:ext cx="868680" cy="277978"/>
          </a:xfrm>
          <a:prstGeom prst="roundRect">
            <a:avLst>
              <a:gd name="adj" fmla="val 50000"/>
            </a:avLst>
          </a:prstGeom>
          <a:solidFill>
            <a:srgbClr val="1F5E34"/>
          </a:solidFill>
          <a:ln/>
        </p:spPr>
      </p:sp>
      <p:sp>
        <p:nvSpPr>
          <p:cNvPr id="7" name="Shape 5"/>
          <p:cNvSpPr/>
          <p:nvPr/>
        </p:nvSpPr>
        <p:spPr>
          <a:xfrm rot="9000000">
            <a:off x="8338255" y="7007962"/>
            <a:ext cx="868680" cy="277978"/>
          </a:xfrm>
          <a:prstGeom prst="roundRect">
            <a:avLst>
              <a:gd name="adj" fmla="val 50000"/>
            </a:avLst>
          </a:prstGeom>
          <a:solidFill>
            <a:srgbClr val="1F5E34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8040319" y="5896051"/>
            <a:ext cx="868680" cy="277978"/>
          </a:xfrm>
          <a:prstGeom prst="roundRect">
            <a:avLst>
              <a:gd name="adj" fmla="val 50000"/>
            </a:avLst>
          </a:prstGeom>
          <a:solidFill>
            <a:srgbClr val="1F5E34"/>
          </a:solidFill>
          <a:ln/>
        </p:spPr>
      </p:sp>
      <p:sp>
        <p:nvSpPr>
          <p:cNvPr id="9" name="Shape 7"/>
          <p:cNvSpPr/>
          <p:nvPr/>
        </p:nvSpPr>
        <p:spPr>
          <a:xfrm rot="12600000">
            <a:off x="8338255" y="4784141"/>
            <a:ext cx="868680" cy="277978"/>
          </a:xfrm>
          <a:prstGeom prst="roundRect">
            <a:avLst>
              <a:gd name="adj" fmla="val 50000"/>
            </a:avLst>
          </a:prstGeom>
          <a:solidFill>
            <a:srgbClr val="1F5E34"/>
          </a:solidFill>
          <a:ln/>
        </p:spPr>
      </p:sp>
      <p:sp>
        <p:nvSpPr>
          <p:cNvPr id="10" name="Shape 8"/>
          <p:cNvSpPr/>
          <p:nvPr/>
        </p:nvSpPr>
        <p:spPr>
          <a:xfrm rot="14400000">
            <a:off x="9152230" y="3970166"/>
            <a:ext cx="868680" cy="277978"/>
          </a:xfrm>
          <a:prstGeom prst="roundRect">
            <a:avLst>
              <a:gd name="adj" fmla="val 50000"/>
            </a:avLst>
          </a:prstGeom>
          <a:solidFill>
            <a:srgbClr val="1F5E34"/>
          </a:solidFill>
          <a:ln/>
        </p:spPr>
      </p:sp>
      <p:sp>
        <p:nvSpPr>
          <p:cNvPr id="11" name="Shape 9"/>
          <p:cNvSpPr/>
          <p:nvPr/>
        </p:nvSpPr>
        <p:spPr>
          <a:xfrm rot="16200000">
            <a:off x="10264140" y="3672230"/>
            <a:ext cx="868680" cy="277978"/>
          </a:xfrm>
          <a:prstGeom prst="roundRect">
            <a:avLst>
              <a:gd name="adj" fmla="val 50000"/>
            </a:avLst>
          </a:prstGeom>
          <a:solidFill>
            <a:srgbClr val="1F5E34"/>
          </a:solidFill>
          <a:ln/>
        </p:spPr>
      </p:sp>
      <p:sp>
        <p:nvSpPr>
          <p:cNvPr id="12" name="Shape 10"/>
          <p:cNvSpPr/>
          <p:nvPr/>
        </p:nvSpPr>
        <p:spPr>
          <a:xfrm rot="18000000">
            <a:off x="11376050" y="3970166"/>
            <a:ext cx="868680" cy="277978"/>
          </a:xfrm>
          <a:prstGeom prst="roundRect">
            <a:avLst>
              <a:gd name="adj" fmla="val 50000"/>
            </a:avLst>
          </a:prstGeom>
          <a:solidFill>
            <a:srgbClr val="1F5E34"/>
          </a:solidFill>
          <a:ln/>
        </p:spPr>
      </p:sp>
      <p:sp>
        <p:nvSpPr>
          <p:cNvPr id="13" name="Shape 11"/>
          <p:cNvSpPr/>
          <p:nvPr/>
        </p:nvSpPr>
        <p:spPr>
          <a:xfrm rot="19800000">
            <a:off x="12190025" y="4784141"/>
            <a:ext cx="868680" cy="277978"/>
          </a:xfrm>
          <a:prstGeom prst="roundRect">
            <a:avLst>
              <a:gd name="adj" fmla="val 50000"/>
            </a:avLst>
          </a:prstGeom>
          <a:solidFill>
            <a:srgbClr val="1F5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8961120" y="4297680"/>
            <a:ext cx="3474720" cy="3474720"/>
          </a:xfrm>
          <a:prstGeom prst="ellipse">
            <a:avLst/>
          </a:prstGeom>
          <a:solidFill>
            <a:srgbClr val="1F5E34"/>
          </a:solidFill>
          <a:ln/>
        </p:spPr>
      </p:sp>
      <p:sp>
        <p:nvSpPr>
          <p:cNvPr id="15" name="Shape 13"/>
          <p:cNvSpPr/>
          <p:nvPr/>
        </p:nvSpPr>
        <p:spPr>
          <a:xfrm>
            <a:off x="9621317" y="4957877"/>
            <a:ext cx="2154326" cy="2154326"/>
          </a:xfrm>
          <a:prstGeom prst="ellipse">
            <a:avLst/>
          </a:prstGeom>
          <a:solidFill>
            <a:srgbClr val="1A4C2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51008" y="5444338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968789" y="5896051"/>
            <a:ext cx="1459382" cy="1216152"/>
          </a:xfrm>
          <a:prstGeom prst="chord">
            <a:avLst>
              <a:gd name="adj1" fmla="val 10800000"/>
              <a:gd name="adj2" fmla="val 21600000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46917" y="693847"/>
            <a:ext cx="64008" cy="20483"/>
          </a:xfrm>
          <a:prstGeom prst="roundRect">
            <a:avLst>
              <a:gd name="adj" fmla="val 49999"/>
            </a:avLst>
          </a:prstGeom>
          <a:solidFill>
            <a:srgbClr val="F2AD32"/>
          </a:solidFill>
          <a:ln/>
        </p:spPr>
      </p:sp>
      <p:sp>
        <p:nvSpPr>
          <p:cNvPr id="19" name="Shape 17"/>
          <p:cNvSpPr/>
          <p:nvPr/>
        </p:nvSpPr>
        <p:spPr>
          <a:xfrm rot="1800000">
            <a:off x="824964" y="775777"/>
            <a:ext cx="64008" cy="20483"/>
          </a:xfrm>
          <a:prstGeom prst="roundRect">
            <a:avLst>
              <a:gd name="adj" fmla="val 49999"/>
            </a:avLst>
          </a:prstGeom>
          <a:solidFill>
            <a:srgbClr val="4E9A3E"/>
          </a:solidFill>
          <a:ln/>
        </p:spPr>
      </p:sp>
      <p:sp>
        <p:nvSpPr>
          <p:cNvPr id="20" name="Shape 18"/>
          <p:cNvSpPr/>
          <p:nvPr/>
        </p:nvSpPr>
        <p:spPr>
          <a:xfrm rot="3600000">
            <a:off x="764987" y="835754"/>
            <a:ext cx="64008" cy="20483"/>
          </a:xfrm>
          <a:prstGeom prst="roundRect">
            <a:avLst>
              <a:gd name="adj" fmla="val 49999"/>
            </a:avLst>
          </a:prstGeom>
          <a:solidFill>
            <a:srgbClr val="F2AD32"/>
          </a:solidFill>
          <a:ln/>
        </p:spPr>
      </p:sp>
      <p:sp>
        <p:nvSpPr>
          <p:cNvPr id="21" name="Shape 19"/>
          <p:cNvSpPr/>
          <p:nvPr/>
        </p:nvSpPr>
        <p:spPr>
          <a:xfrm rot="5400000">
            <a:off x="683057" y="857707"/>
            <a:ext cx="64008" cy="20483"/>
          </a:xfrm>
          <a:prstGeom prst="roundRect">
            <a:avLst>
              <a:gd name="adj" fmla="val 49999"/>
            </a:avLst>
          </a:prstGeom>
          <a:solidFill>
            <a:srgbClr val="4E9A3E"/>
          </a:solidFill>
          <a:ln/>
        </p:spPr>
      </p:sp>
      <p:sp>
        <p:nvSpPr>
          <p:cNvPr id="22" name="Shape 20"/>
          <p:cNvSpPr/>
          <p:nvPr/>
        </p:nvSpPr>
        <p:spPr>
          <a:xfrm rot="7200000">
            <a:off x="601127" y="835754"/>
            <a:ext cx="64008" cy="20483"/>
          </a:xfrm>
          <a:prstGeom prst="roundRect">
            <a:avLst>
              <a:gd name="adj" fmla="val 49999"/>
            </a:avLst>
          </a:prstGeom>
          <a:solidFill>
            <a:srgbClr val="F2AD32"/>
          </a:solidFill>
          <a:ln/>
        </p:spPr>
      </p:sp>
      <p:sp>
        <p:nvSpPr>
          <p:cNvPr id="23" name="Shape 21"/>
          <p:cNvSpPr/>
          <p:nvPr/>
        </p:nvSpPr>
        <p:spPr>
          <a:xfrm rot="9000000">
            <a:off x="541149" y="775777"/>
            <a:ext cx="64008" cy="20483"/>
          </a:xfrm>
          <a:prstGeom prst="roundRect">
            <a:avLst>
              <a:gd name="adj" fmla="val 49999"/>
            </a:avLst>
          </a:prstGeom>
          <a:solidFill>
            <a:srgbClr val="4E9A3E"/>
          </a:solidFill>
          <a:ln/>
        </p:spPr>
      </p:sp>
      <p:sp>
        <p:nvSpPr>
          <p:cNvPr id="24" name="Shape 22"/>
          <p:cNvSpPr/>
          <p:nvPr/>
        </p:nvSpPr>
        <p:spPr>
          <a:xfrm rot="10800000">
            <a:off x="519196" y="693847"/>
            <a:ext cx="64008" cy="20483"/>
          </a:xfrm>
          <a:prstGeom prst="roundRect">
            <a:avLst>
              <a:gd name="adj" fmla="val 49999"/>
            </a:avLst>
          </a:prstGeom>
          <a:solidFill>
            <a:srgbClr val="F2AD32"/>
          </a:solidFill>
          <a:ln/>
        </p:spPr>
      </p:sp>
      <p:sp>
        <p:nvSpPr>
          <p:cNvPr id="25" name="Shape 23"/>
          <p:cNvSpPr/>
          <p:nvPr/>
        </p:nvSpPr>
        <p:spPr>
          <a:xfrm rot="12600000">
            <a:off x="541149" y="611916"/>
            <a:ext cx="64008" cy="20483"/>
          </a:xfrm>
          <a:prstGeom prst="roundRect">
            <a:avLst>
              <a:gd name="adj" fmla="val 49999"/>
            </a:avLst>
          </a:prstGeom>
          <a:solidFill>
            <a:srgbClr val="4E9A3E"/>
          </a:solidFill>
          <a:ln/>
        </p:spPr>
      </p:sp>
      <p:sp>
        <p:nvSpPr>
          <p:cNvPr id="26" name="Shape 24"/>
          <p:cNvSpPr/>
          <p:nvPr/>
        </p:nvSpPr>
        <p:spPr>
          <a:xfrm rot="14400000">
            <a:off x="601127" y="551939"/>
            <a:ext cx="64008" cy="20483"/>
          </a:xfrm>
          <a:prstGeom prst="roundRect">
            <a:avLst>
              <a:gd name="adj" fmla="val 49999"/>
            </a:avLst>
          </a:prstGeom>
          <a:solidFill>
            <a:srgbClr val="F2AD32"/>
          </a:solidFill>
          <a:ln/>
        </p:spPr>
      </p:sp>
      <p:sp>
        <p:nvSpPr>
          <p:cNvPr id="27" name="Shape 25"/>
          <p:cNvSpPr/>
          <p:nvPr/>
        </p:nvSpPr>
        <p:spPr>
          <a:xfrm rot="16200000">
            <a:off x="683057" y="529986"/>
            <a:ext cx="64008" cy="20483"/>
          </a:xfrm>
          <a:prstGeom prst="roundRect">
            <a:avLst>
              <a:gd name="adj" fmla="val 49999"/>
            </a:avLst>
          </a:prstGeom>
          <a:solidFill>
            <a:srgbClr val="4E9A3E"/>
          </a:solidFill>
          <a:ln/>
        </p:spPr>
      </p:sp>
      <p:sp>
        <p:nvSpPr>
          <p:cNvPr id="28" name="Shape 26"/>
          <p:cNvSpPr/>
          <p:nvPr/>
        </p:nvSpPr>
        <p:spPr>
          <a:xfrm rot="18000000">
            <a:off x="764987" y="551939"/>
            <a:ext cx="64008" cy="20483"/>
          </a:xfrm>
          <a:prstGeom prst="roundRect">
            <a:avLst>
              <a:gd name="adj" fmla="val 49999"/>
            </a:avLst>
          </a:prstGeom>
          <a:solidFill>
            <a:srgbClr val="F2AD32"/>
          </a:solidFill>
          <a:ln/>
        </p:spPr>
      </p:sp>
      <p:sp>
        <p:nvSpPr>
          <p:cNvPr id="29" name="Shape 27"/>
          <p:cNvSpPr/>
          <p:nvPr/>
        </p:nvSpPr>
        <p:spPr>
          <a:xfrm rot="19800000">
            <a:off x="824964" y="611916"/>
            <a:ext cx="64008" cy="20483"/>
          </a:xfrm>
          <a:prstGeom prst="roundRect">
            <a:avLst>
              <a:gd name="adj" fmla="val 49999"/>
            </a:avLst>
          </a:prstGeom>
          <a:solidFill>
            <a:srgbClr val="4E9A3E"/>
          </a:solidFill>
          <a:ln/>
        </p:spPr>
      </p:sp>
      <p:sp>
        <p:nvSpPr>
          <p:cNvPr id="30" name="Shape 28"/>
          <p:cNvSpPr/>
          <p:nvPr/>
        </p:nvSpPr>
        <p:spPr>
          <a:xfrm>
            <a:off x="587045" y="576072"/>
            <a:ext cx="256032" cy="256032"/>
          </a:xfrm>
          <a:prstGeom prst="ellipse">
            <a:avLst/>
          </a:prstGeom>
          <a:solidFill>
            <a:srgbClr val="4E9A3E"/>
          </a:solidFill>
          <a:ln/>
        </p:spPr>
      </p:sp>
      <p:sp>
        <p:nvSpPr>
          <p:cNvPr id="31" name="Shape 29"/>
          <p:cNvSpPr/>
          <p:nvPr/>
        </p:nvSpPr>
        <p:spPr>
          <a:xfrm>
            <a:off x="635691" y="624718"/>
            <a:ext cx="158740" cy="158740"/>
          </a:xfrm>
          <a:prstGeom prst="ellipse">
            <a:avLst/>
          </a:prstGeom>
          <a:solidFill>
            <a:srgbClr val="F2AD32"/>
          </a:solidFill>
          <a:ln/>
        </p:spPr>
      </p:sp>
      <p:sp>
        <p:nvSpPr>
          <p:cNvPr id="32" name="Shape 30"/>
          <p:cNvSpPr/>
          <p:nvPr/>
        </p:nvSpPr>
        <p:spPr>
          <a:xfrm>
            <a:off x="689458" y="660563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61294" y="693847"/>
            <a:ext cx="107533" cy="89611"/>
          </a:xfrm>
          <a:prstGeom prst="chord">
            <a:avLst>
              <a:gd name="adj1" fmla="val 10800000"/>
              <a:gd name="adj2" fmla="val 2160000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07085" y="484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UNAD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907085" y="7223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Abierta y a Distancia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2148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2A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3  ·  BIO-PEDAGOGICAL MEDIATIONS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25146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Chorus (2004)</a:t>
            </a:r>
            <a:endParaRPr lang="en-US" sz="62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36118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D9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Emotion, motivation and bio-pedagogical mediation in the teaching of a foreign language</a:t>
            </a: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566928" y="4617720"/>
            <a:ext cx="2103120" cy="32004"/>
          </a:xfrm>
          <a:prstGeom prst="roundRect">
            <a:avLst>
              <a:gd name="adj" fmla="val 57143"/>
            </a:avLst>
          </a:prstGeom>
          <a:solidFill>
            <a:srgbClr val="F2AD3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48640" y="48920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pPr algn="l" indent="0" marL="0">
              <a:buNone/>
            </a:pPr>
            <a:r>
              <a:rPr lang="en-US" sz="1400" dirty="0">
                <a:solidFill>
                  <a:srgbClr val="C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Bio-Pedagogical Characteristics of Education  (523004A_2204)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23036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 </a:t>
            </a:r>
            <a:pPr algn="l" indent="0" marL="0">
              <a:buNone/>
            </a:pPr>
            <a:r>
              <a:rPr lang="en-US" sz="1400" dirty="0">
                <a:solidFill>
                  <a:srgbClr val="C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Blanca Milena Sáenz Clavijo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School:  </a:t>
            </a:r>
            <a:pPr algn="l" indent="0" marL="0">
              <a:buNone/>
            </a:pPr>
            <a:r>
              <a:rPr lang="en-US" sz="1400" dirty="0">
                <a:solidFill>
                  <a:srgbClr val="C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Ciencias de la Educación — ECEDU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97280" y="42062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E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54480"/>
            <a:ext cx="5394960" cy="1078992"/>
          </a:xfrm>
          <a:prstGeom prst="roundRect">
            <a:avLst>
              <a:gd name="adj" fmla="val 8475"/>
            </a:avLst>
          </a:prstGeom>
          <a:solidFill>
            <a:srgbClr val="EDF4E7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04088" y="1828800"/>
            <a:ext cx="530352" cy="530352"/>
          </a:xfrm>
          <a:prstGeom prst="ellipse">
            <a:avLst/>
          </a:prstGeom>
          <a:solidFill>
            <a:srgbClr val="4E9A3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980" y="1966692"/>
            <a:ext cx="254569" cy="25456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17099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film at a glance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417320" y="20756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Setting, characters and the central conflict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355080" y="1554480"/>
            <a:ext cx="5394960" cy="1078992"/>
          </a:xfrm>
          <a:prstGeom prst="roundRect">
            <a:avLst>
              <a:gd name="adj" fmla="val 8475"/>
            </a:avLst>
          </a:prstGeom>
          <a:solidFill>
            <a:srgbClr val="FBF2DD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56248" y="1828800"/>
            <a:ext cx="530352" cy="530352"/>
          </a:xfrm>
          <a:prstGeom prst="ellipse">
            <a:avLst/>
          </a:prstGeom>
          <a:solidFill>
            <a:srgbClr val="F2AD3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140" y="1966692"/>
            <a:ext cx="254569" cy="25456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69480" y="17099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 of pedagogy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269480" y="20756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&amp; punishment vs. mediation &amp; care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02920" y="2697480"/>
            <a:ext cx="5394960" cy="1078992"/>
          </a:xfrm>
          <a:prstGeom prst="roundRect">
            <a:avLst>
              <a:gd name="adj" fmla="val 8475"/>
            </a:avLst>
          </a:prstGeom>
          <a:solidFill>
            <a:srgbClr val="EDF4E7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04088" y="2971800"/>
            <a:ext cx="530352" cy="530352"/>
          </a:xfrm>
          <a:prstGeom prst="ellipse">
            <a:avLst/>
          </a:prstGeom>
          <a:solidFill>
            <a:srgbClr val="4E9A3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980" y="3109692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28529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Bio-pedagogical mediation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417320" y="32186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traits and transcendental change (Pérez-Cárdenas, 2021)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355080" y="2697480"/>
            <a:ext cx="5394960" cy="1078992"/>
          </a:xfrm>
          <a:prstGeom prst="roundRect">
            <a:avLst>
              <a:gd name="adj" fmla="val 8475"/>
            </a:avLst>
          </a:prstGeom>
          <a:solidFill>
            <a:srgbClr val="FBF2DD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56248" y="2971800"/>
            <a:ext cx="530352" cy="530352"/>
          </a:xfrm>
          <a:prstGeom prst="ellipse">
            <a:avLst/>
          </a:prstGeom>
          <a:solidFill>
            <a:srgbClr val="F2AD32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140" y="3109692"/>
            <a:ext cx="254569" cy="254569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269480" y="28529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emotional climate of learning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7269480" y="32186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presence and trust-building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02920" y="3840480"/>
            <a:ext cx="5394960" cy="1078992"/>
          </a:xfrm>
          <a:prstGeom prst="roundRect">
            <a:avLst>
              <a:gd name="adj" fmla="val 8475"/>
            </a:avLst>
          </a:prstGeom>
          <a:solidFill>
            <a:srgbClr val="EDF4E7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704088" y="4114800"/>
            <a:ext cx="530352" cy="530352"/>
          </a:xfrm>
          <a:prstGeom prst="ellipse">
            <a:avLst/>
          </a:prstGeom>
          <a:solidFill>
            <a:srgbClr val="4E9A3E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980" y="4252692"/>
            <a:ext cx="254569" cy="254569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417320" y="39959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emotions broaden learning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1417320" y="43616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Broaden-and-build (MacIntyre &amp; Gregersen, 2012)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6355080" y="3840480"/>
            <a:ext cx="5394960" cy="1078992"/>
          </a:xfrm>
          <a:prstGeom prst="roundRect">
            <a:avLst>
              <a:gd name="adj" fmla="val 8475"/>
            </a:avLst>
          </a:prstGeom>
          <a:solidFill>
            <a:srgbClr val="FBF2DD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556248" y="4114800"/>
            <a:ext cx="530352" cy="530352"/>
          </a:xfrm>
          <a:prstGeom prst="ellipse">
            <a:avLst/>
          </a:prstGeom>
          <a:solidFill>
            <a:srgbClr val="F2AD32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4140" y="4252692"/>
            <a:ext cx="254569" cy="254569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7269480" y="39959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Emotions as motivation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7269480" y="43616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and perseverance (Méndez, 2011; Galeano, 2022)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502920" y="4983480"/>
            <a:ext cx="5394960" cy="1078992"/>
          </a:xfrm>
          <a:prstGeom prst="roundRect">
            <a:avLst>
              <a:gd name="adj" fmla="val 8475"/>
            </a:avLst>
          </a:prstGeom>
          <a:solidFill>
            <a:srgbClr val="EDF4E7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704088" y="5257800"/>
            <a:ext cx="530352" cy="530352"/>
          </a:xfrm>
          <a:prstGeom prst="ellipse">
            <a:avLst/>
          </a:prstGeom>
          <a:solidFill>
            <a:srgbClr val="4E9A3E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980" y="5395692"/>
            <a:ext cx="254569" cy="254569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1417320" y="51389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Values &amp; real-world meaning</a:t>
            </a:r>
            <a:endParaRPr lang="en-US" sz="1500" dirty="0"/>
          </a:p>
        </p:txBody>
      </p:sp>
      <p:sp>
        <p:nvSpPr>
          <p:cNvPr id="39" name="Text 29"/>
          <p:cNvSpPr txBox="1"/>
          <p:nvPr/>
        </p:nvSpPr>
        <p:spPr>
          <a:xfrm>
            <a:off x="1417320" y="55046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Transdisciplinary ELT (Niu, 2024)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6355080" y="4983480"/>
            <a:ext cx="5394960" cy="1078992"/>
          </a:xfrm>
          <a:prstGeom prst="roundRect">
            <a:avLst>
              <a:gd name="adj" fmla="val 8475"/>
            </a:avLst>
          </a:prstGeom>
          <a:solidFill>
            <a:srgbClr val="FBF2DD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6556248" y="5257800"/>
            <a:ext cx="530352" cy="530352"/>
          </a:xfrm>
          <a:prstGeom prst="ellipse">
            <a:avLst/>
          </a:prstGeom>
          <a:solidFill>
            <a:srgbClr val="F2AD32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4140" y="5395692"/>
            <a:ext cx="254569" cy="254569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7269480" y="51389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film to Prototype Phase</a:t>
            </a:r>
            <a:endParaRPr lang="en-US" sz="1500" dirty="0"/>
          </a:p>
        </p:txBody>
      </p:sp>
      <p:sp>
        <p:nvSpPr>
          <p:cNvPr id="44" name="Text 33"/>
          <p:cNvSpPr txBox="1"/>
          <p:nvPr/>
        </p:nvSpPr>
        <p:spPr>
          <a:xfrm>
            <a:off x="7269480" y="55046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bio-pedagogical workshop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3272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2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97280" y="42062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E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FILM AT A GLANCE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choir that changes everything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160020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2B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France, 1949. Clément Mathieu, an unemployed musician, becomes a supervisor at “Fond de l’Étang”, a bleak boarding school for difficult boys. The headmaster, Rachin, rules through the motto “action – reaction”: surveillance and punishment. Mathieu chooses another path — he forms a choir, discovers Pierre Morhange’s remarkable voice, and gradually turns fear into trust, participation and hope.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02920" y="4709160"/>
            <a:ext cx="5943600" cy="1325880"/>
          </a:xfrm>
          <a:prstGeom prst="roundRect">
            <a:avLst>
              <a:gd name="adj" fmla="val 6897"/>
            </a:avLst>
          </a:prstGeom>
          <a:solidFill>
            <a:srgbClr val="EDF4E7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89204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48463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F5E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“Never say never. There is always something to try.”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234440" y="5532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Clément Mathieu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766560" y="1600200"/>
            <a:ext cx="4937760" cy="1078992"/>
          </a:xfrm>
          <a:prstGeom prst="roundRect">
            <a:avLst>
              <a:gd name="adj" fmla="val 8475"/>
            </a:avLst>
          </a:prstGeom>
          <a:solidFill>
            <a:srgbClr val="EDF4E7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986016" y="1874520"/>
            <a:ext cx="530352" cy="530352"/>
          </a:xfrm>
          <a:prstGeom prst="ellipse">
            <a:avLst/>
          </a:prstGeom>
          <a:solidFill>
            <a:srgbClr val="4E9A3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908" y="2012412"/>
            <a:ext cx="254569" cy="25456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699248" y="17465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699248" y="209397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repressive boarding school, post-war France (1949)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766560" y="2743200"/>
            <a:ext cx="4937760" cy="1078992"/>
          </a:xfrm>
          <a:prstGeom prst="roundRect">
            <a:avLst>
              <a:gd name="adj" fmla="val 8475"/>
            </a:avLst>
          </a:prstGeom>
          <a:solidFill>
            <a:srgbClr val="FBF2DD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986016" y="3017520"/>
            <a:ext cx="530352" cy="530352"/>
          </a:xfrm>
          <a:prstGeom prst="ellipse">
            <a:avLst/>
          </a:prstGeom>
          <a:solidFill>
            <a:srgbClr val="F2AD3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908" y="3155412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699248" y="28895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Protagonist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7699248" y="323697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Clément Mathieu — teacher as mediator, not warden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766560" y="3886200"/>
            <a:ext cx="4937760" cy="1078992"/>
          </a:xfrm>
          <a:prstGeom prst="roundRect">
            <a:avLst>
              <a:gd name="adj" fmla="val 8475"/>
            </a:avLst>
          </a:prstGeom>
          <a:solidFill>
            <a:srgbClr val="EDF4E7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986016" y="4160520"/>
            <a:ext cx="530352" cy="530352"/>
          </a:xfrm>
          <a:prstGeom prst="ellipse">
            <a:avLst/>
          </a:prstGeom>
          <a:solidFill>
            <a:srgbClr val="4E9A3E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3908" y="4298412"/>
            <a:ext cx="254569" cy="254569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699248" y="40325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7699248" y="437997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by fear vs. education through relationship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6766560" y="5029200"/>
            <a:ext cx="4937760" cy="1078992"/>
          </a:xfrm>
          <a:prstGeom prst="roundRect">
            <a:avLst>
              <a:gd name="adj" fmla="val 8475"/>
            </a:avLst>
          </a:prstGeom>
          <a:solidFill>
            <a:srgbClr val="FBF2DD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986016" y="5303520"/>
            <a:ext cx="530352" cy="530352"/>
          </a:xfrm>
          <a:prstGeom prst="ellipse">
            <a:avLst/>
          </a:prstGeom>
          <a:solidFill>
            <a:srgbClr val="F2AD32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3908" y="5441412"/>
            <a:ext cx="254569" cy="254569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699248" y="51755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point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7699248" y="552297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choir: voice, belonging and emotional change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3272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2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97280" y="42062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E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 OF PEDAGOGY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“action – reaction” to mediation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5440680" cy="3977640"/>
          </a:xfrm>
          <a:prstGeom prst="roundRect">
            <a:avLst>
              <a:gd name="adj" fmla="val 2299"/>
            </a:avLst>
          </a:prstGeom>
          <a:solidFill>
            <a:srgbClr val="F6EAE7"/>
          </a:solidFill>
          <a:ln w="12700">
            <a:solidFill>
              <a:srgbClr val="E3C9C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600200"/>
            <a:ext cx="5440680" cy="868680"/>
          </a:xfrm>
          <a:prstGeom prst="roundRect">
            <a:avLst>
              <a:gd name="adj" fmla="val 10526"/>
            </a:avLst>
          </a:prstGeom>
          <a:solidFill>
            <a:srgbClr val="9E4B3B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2103120"/>
            <a:ext cx="5440680" cy="365760"/>
          </a:xfrm>
          <a:prstGeom prst="rect">
            <a:avLst/>
          </a:prstGeom>
          <a:solidFill>
            <a:srgbClr val="9E4B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1709928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Rachin — Control &amp; Punishment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97480"/>
            <a:ext cx="4937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3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“Action – reaction”: every fault met with punishment</a:t>
            </a:r>
            <a:endParaRPr lang="en-US" sz="135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3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Fear, surveillance and silence as method</a:t>
            </a:r>
            <a:endParaRPr lang="en-US" sz="135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3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Extrinsic threat; motivation imposed from outside</a:t>
            </a:r>
            <a:endParaRPr lang="en-US" sz="135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3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is a problem to be contained</a:t>
            </a:r>
            <a:endParaRPr lang="en-US" sz="135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3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and humiliation; no voice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55080" y="1600200"/>
            <a:ext cx="5440680" cy="3977640"/>
          </a:xfrm>
          <a:prstGeom prst="roundRect">
            <a:avLst>
              <a:gd name="adj" fmla="val 2299"/>
            </a:avLst>
          </a:prstGeom>
          <a:solidFill>
            <a:srgbClr val="EDF4E7"/>
          </a:solidFill>
          <a:ln w="12700">
            <a:solidFill>
              <a:srgbClr val="C7DCB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55080" y="1600200"/>
            <a:ext cx="5440680" cy="868680"/>
          </a:xfrm>
          <a:prstGeom prst="roundRect">
            <a:avLst>
              <a:gd name="adj" fmla="val 10526"/>
            </a:avLst>
          </a:prstGeom>
          <a:solidFill>
            <a:srgbClr val="4E9A3E"/>
          </a:solidFill>
          <a:ln/>
        </p:spPr>
      </p:sp>
      <p:sp>
        <p:nvSpPr>
          <p:cNvPr id="12" name="Shape 9"/>
          <p:cNvSpPr/>
          <p:nvPr/>
        </p:nvSpPr>
        <p:spPr>
          <a:xfrm>
            <a:off x="6355080" y="2103120"/>
            <a:ext cx="5440680" cy="365760"/>
          </a:xfrm>
          <a:prstGeom prst="rect">
            <a:avLst/>
          </a:prstGeom>
          <a:solidFill>
            <a:srgbClr val="4E9A3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37960" y="1709928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Mathieu — Mediation &amp; Care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629400" y="2697480"/>
            <a:ext cx="4937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5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first: trust, respect and encouragement</a:t>
            </a:r>
            <a:endParaRPr lang="en-US" sz="135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5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climate that reduces fear and anxiety</a:t>
            </a:r>
            <a:endParaRPr lang="en-US" sz="135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5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motivation born from meaningful activity</a:t>
            </a:r>
            <a:endParaRPr lang="en-US" sz="135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5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is a person with talents to discover</a:t>
            </a:r>
            <a:endParaRPr lang="en-US" sz="1350" dirty="0"/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5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and voice — literally, through the choir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57150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Bio-pedagogy reframes the teacher as a mediator: </a:t>
            </a:r>
            <a:pPr algn="ctr" indent="0" marL="0">
              <a:buNone/>
            </a:pPr>
            <a:r>
              <a:rPr lang="en-US" sz="135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classroom, transformed by the quality of the human relationship.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3272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2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05742" y="910742"/>
            <a:ext cx="594360" cy="190195"/>
          </a:xfrm>
          <a:prstGeom prst="roundRect">
            <a:avLst>
              <a:gd name="adj" fmla="val 50000"/>
            </a:avLst>
          </a:prstGeom>
          <a:solidFill>
            <a:srgbClr val="F2AD32"/>
          </a:solidFill>
          <a:ln/>
        </p:spPr>
      </p:sp>
      <p:sp>
        <p:nvSpPr>
          <p:cNvPr id="3" name="Shape 1"/>
          <p:cNvSpPr/>
          <p:nvPr/>
        </p:nvSpPr>
        <p:spPr>
          <a:xfrm rot="1800000">
            <a:off x="11901891" y="1671523"/>
            <a:ext cx="594360" cy="190195"/>
          </a:xfrm>
          <a:prstGeom prst="roundRect">
            <a:avLst>
              <a:gd name="adj" fmla="val 50000"/>
            </a:avLst>
          </a:prstGeom>
          <a:solidFill>
            <a:srgbClr val="4E9A3E"/>
          </a:solidFill>
          <a:ln/>
        </p:spPr>
      </p:sp>
      <p:sp>
        <p:nvSpPr>
          <p:cNvPr id="4" name="Shape 2"/>
          <p:cNvSpPr/>
          <p:nvPr/>
        </p:nvSpPr>
        <p:spPr>
          <a:xfrm rot="3600000">
            <a:off x="11344961" y="2228453"/>
            <a:ext cx="594360" cy="190195"/>
          </a:xfrm>
          <a:prstGeom prst="roundRect">
            <a:avLst>
              <a:gd name="adj" fmla="val 50000"/>
            </a:avLst>
          </a:prstGeom>
          <a:solidFill>
            <a:srgbClr val="F2AD32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10584180" y="2432304"/>
            <a:ext cx="594360" cy="190195"/>
          </a:xfrm>
          <a:prstGeom prst="roundRect">
            <a:avLst>
              <a:gd name="adj" fmla="val 50000"/>
            </a:avLst>
          </a:prstGeom>
          <a:solidFill>
            <a:srgbClr val="4E9A3E"/>
          </a:solidFill>
          <a:ln/>
        </p:spPr>
      </p:sp>
      <p:sp>
        <p:nvSpPr>
          <p:cNvPr id="6" name="Shape 4"/>
          <p:cNvSpPr/>
          <p:nvPr/>
        </p:nvSpPr>
        <p:spPr>
          <a:xfrm rot="7200000">
            <a:off x="9823399" y="2228453"/>
            <a:ext cx="594360" cy="190195"/>
          </a:xfrm>
          <a:prstGeom prst="roundRect">
            <a:avLst>
              <a:gd name="adj" fmla="val 50000"/>
            </a:avLst>
          </a:prstGeom>
          <a:solidFill>
            <a:srgbClr val="F2AD32"/>
          </a:solidFill>
          <a:ln/>
        </p:spPr>
      </p:sp>
      <p:sp>
        <p:nvSpPr>
          <p:cNvPr id="7" name="Shape 5"/>
          <p:cNvSpPr/>
          <p:nvPr/>
        </p:nvSpPr>
        <p:spPr>
          <a:xfrm rot="9000000">
            <a:off x="9266469" y="1671523"/>
            <a:ext cx="594360" cy="190195"/>
          </a:xfrm>
          <a:prstGeom prst="roundRect">
            <a:avLst>
              <a:gd name="adj" fmla="val 50000"/>
            </a:avLst>
          </a:prstGeom>
          <a:solidFill>
            <a:srgbClr val="4E9A3E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9062618" y="910742"/>
            <a:ext cx="594360" cy="190195"/>
          </a:xfrm>
          <a:prstGeom prst="roundRect">
            <a:avLst>
              <a:gd name="adj" fmla="val 50000"/>
            </a:avLst>
          </a:prstGeom>
          <a:solidFill>
            <a:srgbClr val="F2AD32"/>
          </a:solidFill>
          <a:ln/>
        </p:spPr>
      </p:sp>
      <p:sp>
        <p:nvSpPr>
          <p:cNvPr id="9" name="Shape 7"/>
          <p:cNvSpPr/>
          <p:nvPr/>
        </p:nvSpPr>
        <p:spPr>
          <a:xfrm rot="12600000">
            <a:off x="9266469" y="149962"/>
            <a:ext cx="594360" cy="190195"/>
          </a:xfrm>
          <a:prstGeom prst="roundRect">
            <a:avLst>
              <a:gd name="adj" fmla="val 50000"/>
            </a:avLst>
          </a:prstGeom>
          <a:solidFill>
            <a:srgbClr val="4E9A3E"/>
          </a:solidFill>
          <a:ln/>
        </p:spPr>
      </p:sp>
      <p:sp>
        <p:nvSpPr>
          <p:cNvPr id="10" name="Shape 8"/>
          <p:cNvSpPr/>
          <p:nvPr/>
        </p:nvSpPr>
        <p:spPr>
          <a:xfrm rot="14400000">
            <a:off x="9823399" y="-406969"/>
            <a:ext cx="594360" cy="190195"/>
          </a:xfrm>
          <a:prstGeom prst="roundRect">
            <a:avLst>
              <a:gd name="adj" fmla="val 50000"/>
            </a:avLst>
          </a:prstGeom>
          <a:solidFill>
            <a:srgbClr val="F2AD32"/>
          </a:solidFill>
          <a:ln/>
        </p:spPr>
      </p:sp>
      <p:sp>
        <p:nvSpPr>
          <p:cNvPr id="11" name="Shape 9"/>
          <p:cNvSpPr/>
          <p:nvPr/>
        </p:nvSpPr>
        <p:spPr>
          <a:xfrm rot="16200000">
            <a:off x="10584180" y="-610819"/>
            <a:ext cx="594360" cy="190195"/>
          </a:xfrm>
          <a:prstGeom prst="roundRect">
            <a:avLst>
              <a:gd name="adj" fmla="val 50000"/>
            </a:avLst>
          </a:prstGeom>
          <a:solidFill>
            <a:srgbClr val="4E9A3E"/>
          </a:solidFill>
          <a:ln/>
        </p:spPr>
      </p:sp>
      <p:sp>
        <p:nvSpPr>
          <p:cNvPr id="12" name="Shape 10"/>
          <p:cNvSpPr/>
          <p:nvPr/>
        </p:nvSpPr>
        <p:spPr>
          <a:xfrm rot="18000000">
            <a:off x="11344961" y="-406969"/>
            <a:ext cx="594360" cy="190195"/>
          </a:xfrm>
          <a:prstGeom prst="roundRect">
            <a:avLst>
              <a:gd name="adj" fmla="val 50000"/>
            </a:avLst>
          </a:prstGeom>
          <a:solidFill>
            <a:srgbClr val="F2AD32"/>
          </a:solidFill>
          <a:ln/>
        </p:spPr>
      </p:sp>
      <p:sp>
        <p:nvSpPr>
          <p:cNvPr id="13" name="Shape 11"/>
          <p:cNvSpPr/>
          <p:nvPr/>
        </p:nvSpPr>
        <p:spPr>
          <a:xfrm rot="19800000">
            <a:off x="11901891" y="149962"/>
            <a:ext cx="594360" cy="190195"/>
          </a:xfrm>
          <a:prstGeom prst="roundRect">
            <a:avLst>
              <a:gd name="adj" fmla="val 50000"/>
            </a:avLst>
          </a:prstGeom>
          <a:solidFill>
            <a:srgbClr val="4E9A3E"/>
          </a:solidFill>
          <a:ln/>
        </p:spPr>
      </p:sp>
      <p:sp>
        <p:nvSpPr>
          <p:cNvPr id="14" name="Shape 12"/>
          <p:cNvSpPr/>
          <p:nvPr/>
        </p:nvSpPr>
        <p:spPr>
          <a:xfrm>
            <a:off x="9692640" y="-182880"/>
            <a:ext cx="2377440" cy="2377440"/>
          </a:xfrm>
          <a:prstGeom prst="ellipse">
            <a:avLst/>
          </a:prstGeom>
          <a:solidFill>
            <a:srgbClr val="4E9A3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44354" y="268834"/>
            <a:ext cx="1474013" cy="1474013"/>
          </a:xfrm>
          <a:prstGeom prst="ellipse">
            <a:avLst/>
          </a:prstGeom>
          <a:solidFill>
            <a:srgbClr val="F2AD32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43616" y="601675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382098" y="910742"/>
            <a:ext cx="998525" cy="832104"/>
          </a:xfrm>
          <a:prstGeom prst="chord">
            <a:avLst>
              <a:gd name="adj1" fmla="val 10800000"/>
              <a:gd name="adj2" fmla="val 21600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400" kern="0" dirty="0">
                <a:solidFill>
                  <a:srgbClr val="F2A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28803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film through</a:t>
            </a:r>
            <a:endParaRPr lang="en-US" sz="4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references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7091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D9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lenses — mediation, emotional climate, positive emotions and motivation, values — connect the story to the bibliography of Challenge 3.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97280" y="42062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E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PÉREZ-CÁRDENAS (2021)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Bio-pedagogical mediation &amp; transcendental change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572768"/>
            <a:ext cx="11201400" cy="1097280"/>
          </a:xfrm>
          <a:prstGeom prst="roundRect">
            <a:avLst>
              <a:gd name="adj" fmla="val 8333"/>
            </a:avLst>
          </a:prstGeom>
          <a:solidFill>
            <a:srgbClr val="EDF4E7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664208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i="1" dirty="0">
                <a:solidFill>
                  <a:srgbClr val="1F5E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Pedagogical mediation and key bio-pedagogical traits can drive transcendental changes in TEFL practice — teaching becomes an act of mediation and care, not mere transmission of content.</a:t>
            </a:r>
            <a:endParaRPr lang="en-US" sz="155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2852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E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BIO-PEDAGOGICAL TRAITS EMBODIED BY MATHIEU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02920" y="320040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31520" y="3438144"/>
            <a:ext cx="548640" cy="548640"/>
          </a:xfrm>
          <a:prstGeom prst="ellipse">
            <a:avLst/>
          </a:prstGeom>
          <a:solidFill>
            <a:srgbClr val="4E9A3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3580790"/>
            <a:ext cx="263347" cy="26334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99032" y="340156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 &amp; affect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758952" y="40416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warm, protective bond replaces fear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4297680" y="320040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526280" y="3438144"/>
            <a:ext cx="548640" cy="548640"/>
          </a:xfrm>
          <a:prstGeom prst="ellipse">
            <a:avLst/>
          </a:prstGeom>
          <a:solidFill>
            <a:srgbClr val="F2AD3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926" y="3580790"/>
            <a:ext cx="263347" cy="26334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193792" y="340156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presence</a:t>
            </a:r>
            <a:endParaRPr lang="en-US" sz="1450" dirty="0"/>
          </a:p>
        </p:txBody>
      </p:sp>
      <p:sp>
        <p:nvSpPr>
          <p:cNvPr id="18" name="Text 12"/>
          <p:cNvSpPr txBox="1"/>
          <p:nvPr/>
        </p:nvSpPr>
        <p:spPr>
          <a:xfrm>
            <a:off x="4553712" y="40416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is fully present with learners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8092440" y="320040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8321040" y="3438144"/>
            <a:ext cx="548640" cy="548640"/>
          </a:xfrm>
          <a:prstGeom prst="ellipse">
            <a:avLst/>
          </a:prstGeom>
          <a:solidFill>
            <a:srgbClr val="4E9A3E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686" y="3580790"/>
            <a:ext cx="263347" cy="26334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988552" y="340156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Mediation, not transmission</a:t>
            </a:r>
            <a:endParaRPr lang="en-US" sz="1450" dirty="0"/>
          </a:p>
        </p:txBody>
      </p:sp>
      <p:sp>
        <p:nvSpPr>
          <p:cNvPr id="23" name="Text 16"/>
          <p:cNvSpPr txBox="1"/>
          <p:nvPr/>
        </p:nvSpPr>
        <p:spPr>
          <a:xfrm>
            <a:off x="8348472" y="40416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discovery instead of imposing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502920" y="4736592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731520" y="4974336"/>
            <a:ext cx="548640" cy="548640"/>
          </a:xfrm>
          <a:prstGeom prst="ellipse">
            <a:avLst/>
          </a:prstGeom>
          <a:solidFill>
            <a:srgbClr val="F2AD32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66" y="5116982"/>
            <a:ext cx="263347" cy="26334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399032" y="493776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&amp; autonomy</a:t>
            </a:r>
            <a:endParaRPr lang="en-US" sz="1450" dirty="0"/>
          </a:p>
        </p:txBody>
      </p:sp>
      <p:sp>
        <p:nvSpPr>
          <p:cNvPr id="28" name="Text 20"/>
          <p:cNvSpPr txBox="1"/>
          <p:nvPr/>
        </p:nvSpPr>
        <p:spPr>
          <a:xfrm>
            <a:off x="758952" y="55778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boy finds his place in the choir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4297680" y="4736592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4526280" y="4974336"/>
            <a:ext cx="548640" cy="548640"/>
          </a:xfrm>
          <a:prstGeom prst="ellipse">
            <a:avLst/>
          </a:prstGeom>
          <a:solidFill>
            <a:srgbClr val="4E9A3E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8926" y="5116982"/>
            <a:ext cx="263347" cy="263347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5193792" y="493776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Sentipensante life</a:t>
            </a:r>
            <a:endParaRPr lang="en-US" sz="1450" dirty="0"/>
          </a:p>
        </p:txBody>
      </p:sp>
      <p:sp>
        <p:nvSpPr>
          <p:cNvPr id="33" name="Text 24"/>
          <p:cNvSpPr txBox="1"/>
          <p:nvPr/>
        </p:nvSpPr>
        <p:spPr>
          <a:xfrm>
            <a:off x="4553712" y="55778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and feeling educated together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8092440" y="4736592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8321040" y="4974336"/>
            <a:ext cx="548640" cy="548640"/>
          </a:xfrm>
          <a:prstGeom prst="ellipse">
            <a:avLst/>
          </a:prstGeom>
          <a:solidFill>
            <a:srgbClr val="F2AD32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3686" y="5116982"/>
            <a:ext cx="263347" cy="263347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8988552" y="493776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Transcendental change</a:t>
            </a:r>
            <a:endParaRPr lang="en-US" sz="1450" dirty="0"/>
          </a:p>
        </p:txBody>
      </p:sp>
      <p:sp>
        <p:nvSpPr>
          <p:cNvPr id="38" name="Text 28"/>
          <p:cNvSpPr txBox="1"/>
          <p:nvPr/>
        </p:nvSpPr>
        <p:spPr>
          <a:xfrm>
            <a:off x="8348472" y="55778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— not just grades — are transformed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3272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2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97280" y="42062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E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EMOTIONAL CLIMATE OF LEARNING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presence transforms the classroom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1554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Guide invites us to notice how emotional climate, relational presence and teacher mediation reshape learning. In the film these appear as concrete, observable moments.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33172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EDF4E7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67612" y="2651760"/>
            <a:ext cx="768096" cy="768096"/>
          </a:xfrm>
          <a:prstGeom prst="ellipse">
            <a:avLst/>
          </a:prstGeom>
          <a:solidFill>
            <a:srgbClr val="4E9A3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317" y="2851465"/>
            <a:ext cx="368686" cy="36868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3566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Emotional resonance</a:t>
            </a:r>
            <a:endParaRPr lang="en-US" sz="1550" dirty="0"/>
          </a:p>
        </p:txBody>
      </p:sp>
      <p:sp>
        <p:nvSpPr>
          <p:cNvPr id="10" name="Text 6"/>
          <p:cNvSpPr txBox="1"/>
          <p:nvPr/>
        </p:nvSpPr>
        <p:spPr>
          <a:xfrm>
            <a:off x="722376" y="4251960"/>
            <a:ext cx="22585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reaches the boys where discipline never could — feeling becomes the doorway to learning.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355848" y="233172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BF2DD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320540" y="2651760"/>
            <a:ext cx="768096" cy="768096"/>
          </a:xfrm>
          <a:prstGeom prst="ellipse">
            <a:avLst/>
          </a:prstGeom>
          <a:solidFill>
            <a:srgbClr val="F2AD3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245" y="2851465"/>
            <a:ext cx="368686" cy="36868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538728" y="3566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Trust-building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3575304" y="4251960"/>
            <a:ext cx="22585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Mathieu protects and believes in the boys; safety makes participation possible.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08776" y="233172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EDF4E7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173468" y="2651760"/>
            <a:ext cx="768096" cy="768096"/>
          </a:xfrm>
          <a:prstGeom prst="ellipse">
            <a:avLst/>
          </a:prstGeom>
          <a:solidFill>
            <a:srgbClr val="007AC8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3173" y="2851465"/>
            <a:ext cx="368686" cy="36868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391656" y="3566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Embodied interaction</a:t>
            </a:r>
            <a:endParaRPr lang="en-US" sz="1550" dirty="0"/>
          </a:p>
        </p:txBody>
      </p:sp>
      <p:sp>
        <p:nvSpPr>
          <p:cNvPr id="20" name="Text 14"/>
          <p:cNvSpPr txBox="1"/>
          <p:nvPr/>
        </p:nvSpPr>
        <p:spPr>
          <a:xfrm>
            <a:off x="6428232" y="4251960"/>
            <a:ext cx="22585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Gesture, voice and presence — learning is lived, not just explained.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9061704" y="233172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BF2DD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0026396" y="2651760"/>
            <a:ext cx="768096" cy="768096"/>
          </a:xfrm>
          <a:prstGeom prst="ellipse">
            <a:avLst/>
          </a:prstGeom>
          <a:solidFill>
            <a:srgbClr val="1F5E34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6101" y="2851465"/>
            <a:ext cx="368686" cy="36868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244584" y="35661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Ecological change</a:t>
            </a:r>
            <a:endParaRPr lang="en-US" sz="1550" dirty="0"/>
          </a:p>
        </p:txBody>
      </p:sp>
      <p:sp>
        <p:nvSpPr>
          <p:cNvPr id="25" name="Text 18"/>
          <p:cNvSpPr txBox="1"/>
          <p:nvPr/>
        </p:nvSpPr>
        <p:spPr>
          <a:xfrm>
            <a:off x="9281160" y="4251960"/>
            <a:ext cx="22585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climate warms, the whole school ecosystem shifts toward hope.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502920" y="5715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5E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emotional tone of a workshop shapes engagement as much as its content.”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3272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2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97280" y="42062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E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MACINTYRE &amp; GREGERSEN (2012)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emotions broaden &amp; build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15544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emotions broaden learners’ cognitive and behavioural possibilities and, over time, build lasting personal resources. Imagination widens what learners believe they can do.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423160"/>
            <a:ext cx="32461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760220" y="2697480"/>
            <a:ext cx="731520" cy="731520"/>
          </a:xfrm>
          <a:prstGeom prst="ellipse">
            <a:avLst/>
          </a:prstGeom>
          <a:solidFill>
            <a:srgbClr val="4E9A3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415" y="2887675"/>
            <a:ext cx="351130" cy="35113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3520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emotion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39776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Joy, pride and hope in the choir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768" y="3337560"/>
            <a:ext cx="457200" cy="457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434840" y="2423160"/>
            <a:ext cx="32461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5692140" y="2697480"/>
            <a:ext cx="731520" cy="731520"/>
          </a:xfrm>
          <a:prstGeom prst="ellipse">
            <a:avLst/>
          </a:prstGeom>
          <a:solidFill>
            <a:srgbClr val="F2AD3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2335" y="2887675"/>
            <a:ext cx="351130" cy="35113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617720" y="3520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Broadened thought–action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4663440" y="39776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Curiosity, risk-taking, imagination open up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688" y="3337560"/>
            <a:ext cx="457200" cy="45720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8366760" y="2423160"/>
            <a:ext cx="32461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9624060" y="2697480"/>
            <a:ext cx="731520" cy="731520"/>
          </a:xfrm>
          <a:prstGeom prst="ellipse">
            <a:avLst/>
          </a:prstGeom>
          <a:solidFill>
            <a:srgbClr val="007AC8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4255" y="2887675"/>
            <a:ext cx="351130" cy="35113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549640" y="3520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resources</a:t>
            </a:r>
            <a:endParaRPr lang="en-US" sz="1600" dirty="0"/>
          </a:p>
        </p:txBody>
      </p:sp>
      <p:sp>
        <p:nvSpPr>
          <p:cNvPr id="22" name="Text 14"/>
          <p:cNvSpPr txBox="1"/>
          <p:nvPr/>
        </p:nvSpPr>
        <p:spPr>
          <a:xfrm>
            <a:off x="8595360" y="39776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Confidence, skill and resilience endure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502920" y="5029200"/>
            <a:ext cx="11201400" cy="1005840"/>
          </a:xfrm>
          <a:prstGeom prst="roundRect">
            <a:avLst>
              <a:gd name="adj" fmla="val 9091"/>
            </a:avLst>
          </a:prstGeom>
          <a:solidFill>
            <a:srgbClr val="EDF4E7"/>
          </a:solidFill>
          <a:ln w="12700">
            <a:solidFill>
              <a:srgbClr val="C7DCBB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285232"/>
            <a:ext cx="457200" cy="4572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417320" y="51389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F5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film:  </a:t>
            </a:r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fearful, shut-down boys of the opening scenes become curious, confident singers — positive emotion literally broadens what they attempt and builds who they become.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3272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2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97280" y="42062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E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MÉNDEZ (2011) · GALEANO (2022)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Emotions as the engine of motivation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15544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Emotions are not the opposite of reason in learning — they are motivational drivers. Méndez shows how emotional states shape motivation in foreign language learning; Galeano’s UNAD OVI maps its motivational components.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423160"/>
            <a:ext cx="11201400" cy="822960"/>
          </a:xfrm>
          <a:prstGeom prst="roundRect">
            <a:avLst>
              <a:gd name="adj" fmla="val 11111"/>
            </a:avLst>
          </a:prstGeom>
          <a:solidFill>
            <a:srgbClr val="EDF4E7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0664" y="2569464"/>
            <a:ext cx="530352" cy="530352"/>
          </a:xfrm>
          <a:prstGeom prst="ellipse">
            <a:avLst/>
          </a:prstGeom>
          <a:solidFill>
            <a:srgbClr val="4E9A3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556" y="2707356"/>
            <a:ext cx="254569" cy="25456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423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Participation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480560" y="2423160"/>
            <a:ext cx="6995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emotion invites learners to take part and speak up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02920" y="3355848"/>
            <a:ext cx="11201400" cy="822960"/>
          </a:xfrm>
          <a:prstGeom prst="roundRect">
            <a:avLst>
              <a:gd name="adj" fmla="val 11111"/>
            </a:avLst>
          </a:prstGeom>
          <a:solidFill>
            <a:srgbClr val="FBF2DD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40664" y="3502152"/>
            <a:ext cx="530352" cy="530352"/>
          </a:xfrm>
          <a:prstGeom prst="ellipse">
            <a:avLst/>
          </a:prstGeom>
          <a:solidFill>
            <a:srgbClr val="F2AD3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556" y="3640044"/>
            <a:ext cx="254569" cy="25456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35584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Perseverance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480560" y="3355848"/>
            <a:ext cx="6995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engagement sustains effort through difficulty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02920" y="4288536"/>
            <a:ext cx="11201400" cy="822960"/>
          </a:xfrm>
          <a:prstGeom prst="roundRect">
            <a:avLst>
              <a:gd name="adj" fmla="val 11111"/>
            </a:avLst>
          </a:prstGeom>
          <a:solidFill>
            <a:srgbClr val="EDF4E7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0664" y="4434840"/>
            <a:ext cx="530352" cy="530352"/>
          </a:xfrm>
          <a:prstGeom prst="ellipse">
            <a:avLst/>
          </a:prstGeom>
          <a:solidFill>
            <a:srgbClr val="4E9A3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56" y="4572732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288536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Self-esteem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4480560" y="4288536"/>
            <a:ext cx="6995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and recognition strengthen the learner’s self-image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02920" y="5221224"/>
            <a:ext cx="11201400" cy="822960"/>
          </a:xfrm>
          <a:prstGeom prst="roundRect">
            <a:avLst>
              <a:gd name="adj" fmla="val 11111"/>
            </a:avLst>
          </a:prstGeom>
          <a:solidFill>
            <a:srgbClr val="FBF2DD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40664" y="5367528"/>
            <a:ext cx="530352" cy="530352"/>
          </a:xfrm>
          <a:prstGeom prst="ellipse">
            <a:avLst/>
          </a:prstGeom>
          <a:solidFill>
            <a:srgbClr val="F2AD32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556" y="5505420"/>
            <a:ext cx="254569" cy="254569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463040" y="5221224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Intrinsic motivation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4480560" y="5221224"/>
            <a:ext cx="6995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activity becomes rewarding in itself — like singing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3272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2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97280" y="42062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E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NIU (2024)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Values, ideology &amp; real-world meaning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155448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B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transdisciplinary approach to ELT connects language with values and ideology in real-world contexts — pursuing authentic communicative purposes, social relevance and ecological coherence. In the film, music is never ‘just’ music: it carries dignity, hope and solidarity.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02920" y="38862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EDF4E7"/>
          </a:solidFill>
          <a:ln w="9525">
            <a:solidFill>
              <a:srgbClr val="D8E0D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9264" y="4087368"/>
            <a:ext cx="548640" cy="548640"/>
          </a:xfrm>
          <a:prstGeom prst="ellipse">
            <a:avLst/>
          </a:prstGeom>
          <a:solidFill>
            <a:srgbClr val="4E9A3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" y="4230014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2920" y="47548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Dignity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2130552" y="38862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BF2DD"/>
          </a:solidFill>
          <a:ln w="9525">
            <a:solidFill>
              <a:srgbClr val="D8E0D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596896" y="4087368"/>
            <a:ext cx="548640" cy="548640"/>
          </a:xfrm>
          <a:prstGeom prst="ellipse">
            <a:avLst/>
          </a:prstGeom>
          <a:solidFill>
            <a:srgbClr val="F2AD3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9542" y="4230014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130552" y="47548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Hope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3758184" y="38862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EDF4E7"/>
          </a:solidFill>
          <a:ln w="9525">
            <a:solidFill>
              <a:srgbClr val="D8E0D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224528" y="4087368"/>
            <a:ext cx="548640" cy="548640"/>
          </a:xfrm>
          <a:prstGeom prst="ellipse">
            <a:avLst/>
          </a:prstGeom>
          <a:solidFill>
            <a:srgbClr val="4E9A3E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174" y="4230014"/>
            <a:ext cx="263347" cy="26334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758184" y="47548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Solidarity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5385816" y="3886200"/>
            <a:ext cx="1481328" cy="1371600"/>
          </a:xfrm>
          <a:prstGeom prst="roundRect">
            <a:avLst>
              <a:gd name="adj" fmla="val 6667"/>
            </a:avLst>
          </a:prstGeom>
          <a:solidFill>
            <a:srgbClr val="FBF2DD"/>
          </a:solidFill>
          <a:ln w="9525">
            <a:solidFill>
              <a:srgbClr val="D8E0D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852160" y="4087368"/>
            <a:ext cx="548640" cy="548640"/>
          </a:xfrm>
          <a:prstGeom prst="ellipse">
            <a:avLst/>
          </a:prstGeom>
          <a:solidFill>
            <a:srgbClr val="F2AD3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4806" y="4230014"/>
            <a:ext cx="263347" cy="26334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385816" y="47548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Respect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502920" y="5486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1F5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purpose · social relevance · ecological coherence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7269480" y="1554480"/>
            <a:ext cx="4434840" cy="4297680"/>
          </a:xfrm>
          <a:prstGeom prst="roundRect">
            <a:avLst>
              <a:gd name="adj" fmla="val 2553"/>
            </a:avLst>
          </a:prstGeom>
          <a:solidFill>
            <a:srgbClr val="1F5E34"/>
          </a:solidFill>
          <a:ln/>
        </p:spPr>
      </p:sp>
      <p:sp>
        <p:nvSpPr>
          <p:cNvPr id="24" name="Shape 17"/>
          <p:cNvSpPr/>
          <p:nvPr/>
        </p:nvSpPr>
        <p:spPr>
          <a:xfrm>
            <a:off x="11473343" y="4849612"/>
            <a:ext cx="265176" cy="84856"/>
          </a:xfrm>
          <a:prstGeom prst="roundRect">
            <a:avLst>
              <a:gd name="adj" fmla="val 50000"/>
            </a:avLst>
          </a:prstGeom>
          <a:solidFill>
            <a:srgbClr val="F2AD32"/>
          </a:solidFill>
          <a:ln/>
        </p:spPr>
      </p:sp>
      <p:sp>
        <p:nvSpPr>
          <p:cNvPr id="25" name="Shape 18"/>
          <p:cNvSpPr/>
          <p:nvPr/>
        </p:nvSpPr>
        <p:spPr>
          <a:xfrm rot="1800000">
            <a:off x="11382394" y="5189037"/>
            <a:ext cx="265176" cy="84856"/>
          </a:xfrm>
          <a:prstGeom prst="roundRect">
            <a:avLst>
              <a:gd name="adj" fmla="val 50000"/>
            </a:avLst>
          </a:prstGeom>
          <a:solidFill>
            <a:srgbClr val="4E9A3E"/>
          </a:solidFill>
          <a:ln/>
        </p:spPr>
      </p:sp>
      <p:sp>
        <p:nvSpPr>
          <p:cNvPr id="26" name="Shape 19"/>
          <p:cNvSpPr/>
          <p:nvPr/>
        </p:nvSpPr>
        <p:spPr>
          <a:xfrm rot="3600000">
            <a:off x="11133917" y="5437514"/>
            <a:ext cx="265176" cy="84856"/>
          </a:xfrm>
          <a:prstGeom prst="roundRect">
            <a:avLst>
              <a:gd name="adj" fmla="val 50000"/>
            </a:avLst>
          </a:prstGeom>
          <a:solidFill>
            <a:srgbClr val="F2AD32"/>
          </a:solidFill>
          <a:ln/>
        </p:spPr>
      </p:sp>
      <p:sp>
        <p:nvSpPr>
          <p:cNvPr id="27" name="Shape 20"/>
          <p:cNvSpPr/>
          <p:nvPr/>
        </p:nvSpPr>
        <p:spPr>
          <a:xfrm rot="5400000">
            <a:off x="10794492" y="5528462"/>
            <a:ext cx="265176" cy="84856"/>
          </a:xfrm>
          <a:prstGeom prst="roundRect">
            <a:avLst>
              <a:gd name="adj" fmla="val 50000"/>
            </a:avLst>
          </a:prstGeom>
          <a:solidFill>
            <a:srgbClr val="4E9A3E"/>
          </a:solidFill>
          <a:ln/>
        </p:spPr>
      </p:sp>
      <p:sp>
        <p:nvSpPr>
          <p:cNvPr id="28" name="Shape 21"/>
          <p:cNvSpPr/>
          <p:nvPr/>
        </p:nvSpPr>
        <p:spPr>
          <a:xfrm rot="7200000">
            <a:off x="10455067" y="5437514"/>
            <a:ext cx="265176" cy="84856"/>
          </a:xfrm>
          <a:prstGeom prst="roundRect">
            <a:avLst>
              <a:gd name="adj" fmla="val 50000"/>
            </a:avLst>
          </a:prstGeom>
          <a:solidFill>
            <a:srgbClr val="F2AD32"/>
          </a:solidFill>
          <a:ln/>
        </p:spPr>
      </p:sp>
      <p:sp>
        <p:nvSpPr>
          <p:cNvPr id="29" name="Shape 22"/>
          <p:cNvSpPr/>
          <p:nvPr/>
        </p:nvSpPr>
        <p:spPr>
          <a:xfrm rot="9000000">
            <a:off x="10206590" y="5189037"/>
            <a:ext cx="265176" cy="84856"/>
          </a:xfrm>
          <a:prstGeom prst="roundRect">
            <a:avLst>
              <a:gd name="adj" fmla="val 50000"/>
            </a:avLst>
          </a:prstGeom>
          <a:solidFill>
            <a:srgbClr val="4E9A3E"/>
          </a:solidFill>
          <a:ln/>
        </p:spPr>
      </p:sp>
      <p:sp>
        <p:nvSpPr>
          <p:cNvPr id="30" name="Shape 23"/>
          <p:cNvSpPr/>
          <p:nvPr/>
        </p:nvSpPr>
        <p:spPr>
          <a:xfrm rot="10800000">
            <a:off x="10115641" y="4849612"/>
            <a:ext cx="265176" cy="84856"/>
          </a:xfrm>
          <a:prstGeom prst="roundRect">
            <a:avLst>
              <a:gd name="adj" fmla="val 50000"/>
            </a:avLst>
          </a:prstGeom>
          <a:solidFill>
            <a:srgbClr val="F2AD32"/>
          </a:solidFill>
          <a:ln/>
        </p:spPr>
      </p:sp>
      <p:sp>
        <p:nvSpPr>
          <p:cNvPr id="31" name="Shape 24"/>
          <p:cNvSpPr/>
          <p:nvPr/>
        </p:nvSpPr>
        <p:spPr>
          <a:xfrm rot="12600000">
            <a:off x="10206590" y="4510187"/>
            <a:ext cx="265176" cy="84856"/>
          </a:xfrm>
          <a:prstGeom prst="roundRect">
            <a:avLst>
              <a:gd name="adj" fmla="val 50000"/>
            </a:avLst>
          </a:prstGeom>
          <a:solidFill>
            <a:srgbClr val="4E9A3E"/>
          </a:solidFill>
          <a:ln/>
        </p:spPr>
      </p:sp>
      <p:sp>
        <p:nvSpPr>
          <p:cNvPr id="32" name="Shape 25"/>
          <p:cNvSpPr/>
          <p:nvPr/>
        </p:nvSpPr>
        <p:spPr>
          <a:xfrm rot="14400000">
            <a:off x="10455067" y="4261710"/>
            <a:ext cx="265176" cy="84856"/>
          </a:xfrm>
          <a:prstGeom prst="roundRect">
            <a:avLst>
              <a:gd name="adj" fmla="val 50000"/>
            </a:avLst>
          </a:prstGeom>
          <a:solidFill>
            <a:srgbClr val="F2AD32"/>
          </a:solidFill>
          <a:ln/>
        </p:spPr>
      </p:sp>
      <p:sp>
        <p:nvSpPr>
          <p:cNvPr id="33" name="Shape 26"/>
          <p:cNvSpPr/>
          <p:nvPr/>
        </p:nvSpPr>
        <p:spPr>
          <a:xfrm rot="16200000">
            <a:off x="10794492" y="4170761"/>
            <a:ext cx="265176" cy="84856"/>
          </a:xfrm>
          <a:prstGeom prst="roundRect">
            <a:avLst>
              <a:gd name="adj" fmla="val 50000"/>
            </a:avLst>
          </a:prstGeom>
          <a:solidFill>
            <a:srgbClr val="4E9A3E"/>
          </a:solidFill>
          <a:ln/>
        </p:spPr>
      </p:sp>
      <p:sp>
        <p:nvSpPr>
          <p:cNvPr id="34" name="Shape 27"/>
          <p:cNvSpPr/>
          <p:nvPr/>
        </p:nvSpPr>
        <p:spPr>
          <a:xfrm rot="18000000">
            <a:off x="11133917" y="4261710"/>
            <a:ext cx="265176" cy="84856"/>
          </a:xfrm>
          <a:prstGeom prst="roundRect">
            <a:avLst>
              <a:gd name="adj" fmla="val 50000"/>
            </a:avLst>
          </a:prstGeom>
          <a:solidFill>
            <a:srgbClr val="F2AD32"/>
          </a:solidFill>
          <a:ln/>
        </p:spPr>
      </p:sp>
      <p:sp>
        <p:nvSpPr>
          <p:cNvPr id="35" name="Shape 28"/>
          <p:cNvSpPr/>
          <p:nvPr/>
        </p:nvSpPr>
        <p:spPr>
          <a:xfrm rot="19800000">
            <a:off x="11382394" y="4510187"/>
            <a:ext cx="265176" cy="84856"/>
          </a:xfrm>
          <a:prstGeom prst="roundRect">
            <a:avLst>
              <a:gd name="adj" fmla="val 50000"/>
            </a:avLst>
          </a:prstGeom>
          <a:solidFill>
            <a:srgbClr val="4E9A3E"/>
          </a:solidFill>
          <a:ln/>
        </p:spPr>
      </p:sp>
      <p:sp>
        <p:nvSpPr>
          <p:cNvPr id="36" name="Shape 29"/>
          <p:cNvSpPr/>
          <p:nvPr/>
        </p:nvSpPr>
        <p:spPr>
          <a:xfrm>
            <a:off x="10396728" y="4361688"/>
            <a:ext cx="1060704" cy="1060704"/>
          </a:xfrm>
          <a:prstGeom prst="ellipse">
            <a:avLst/>
          </a:prstGeom>
          <a:solidFill>
            <a:srgbClr val="4E9A3E"/>
          </a:solidFill>
          <a:ln/>
        </p:spPr>
      </p:sp>
      <p:sp>
        <p:nvSpPr>
          <p:cNvPr id="37" name="Shape 30"/>
          <p:cNvSpPr/>
          <p:nvPr/>
        </p:nvSpPr>
        <p:spPr>
          <a:xfrm>
            <a:off x="10598262" y="4563222"/>
            <a:ext cx="657636" cy="657636"/>
          </a:xfrm>
          <a:prstGeom prst="ellipse">
            <a:avLst/>
          </a:prstGeom>
          <a:solidFill>
            <a:srgbClr val="F2AD32"/>
          </a:solidFill>
          <a:ln/>
        </p:spPr>
      </p:sp>
      <p:sp>
        <p:nvSpPr>
          <p:cNvPr id="38" name="Shape 31"/>
          <p:cNvSpPr/>
          <p:nvPr/>
        </p:nvSpPr>
        <p:spPr>
          <a:xfrm>
            <a:off x="10821010" y="4711720"/>
            <a:ext cx="212141" cy="21214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Shape 32"/>
          <p:cNvSpPr/>
          <p:nvPr/>
        </p:nvSpPr>
        <p:spPr>
          <a:xfrm>
            <a:off x="10704332" y="4849612"/>
            <a:ext cx="445496" cy="371246"/>
          </a:xfrm>
          <a:prstGeom prst="chord">
            <a:avLst>
              <a:gd name="adj1" fmla="val 10800000"/>
              <a:gd name="adj2" fmla="val 21600000"/>
            </a:avLst>
          </a:prstGeom>
          <a:solidFill>
            <a:srgbClr val="FFFFFF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1920240"/>
            <a:ext cx="822960" cy="82296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7589520" y="2834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+ life</a:t>
            </a:r>
            <a:endParaRPr lang="en-US" sz="2200" dirty="0"/>
          </a:p>
        </p:txBody>
      </p:sp>
      <p:sp>
        <p:nvSpPr>
          <p:cNvPr id="42" name="Text 34"/>
          <p:cNvSpPr txBox="1"/>
          <p:nvPr/>
        </p:nvSpPr>
        <p:spPr>
          <a:xfrm>
            <a:off x="7589520" y="338328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9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learning English is tied to real values and meaning, it becomes a transformative, transdisciplinary experience — exactly the ambition of the Prototype Phase.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3272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2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97280" y="42062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E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film to your Prototype Phase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155448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bio-pedagogical workshop, inspired by Mathieu, aligns activities, mediation and didactic sequence with the emotional design of learning. Use this checklist to build it.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28600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EDF4E7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22376" y="2587752"/>
            <a:ext cx="548640" cy="548640"/>
          </a:xfrm>
          <a:prstGeom prst="ellipse">
            <a:avLst/>
          </a:prstGeom>
          <a:solidFill>
            <a:srgbClr val="4E9A3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22376" y="2587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4688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Activate imagination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8346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 a task that sparks curiosity and possibility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17920" y="228600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BF2DD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37376" y="2587752"/>
            <a:ext cx="548640" cy="548640"/>
          </a:xfrm>
          <a:prstGeom prst="ellipse">
            <a:avLst/>
          </a:prstGeom>
          <a:solidFill>
            <a:srgbClr val="F2AD3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37376" y="2587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132320" y="24688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fear &amp; anxiety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132320" y="28346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safe climate before demanding performance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02920" y="3538728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EDF4E7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22376" y="3840480"/>
            <a:ext cx="548640" cy="548640"/>
          </a:xfrm>
          <a:prstGeom prst="ellipse">
            <a:avLst/>
          </a:prstGeom>
          <a:solidFill>
            <a:srgbClr val="4E9A3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22376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372160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confidence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408736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small wins so every learner succeeds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217920" y="3538728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BF2DD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37376" y="3840480"/>
            <a:ext cx="548640" cy="548640"/>
          </a:xfrm>
          <a:prstGeom prst="ellipse">
            <a:avLst/>
          </a:prstGeom>
          <a:solidFill>
            <a:srgbClr val="F2AD3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437376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132320" y="372160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emotional resonance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132320" y="408736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content that moves, not only informs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02920" y="4791456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EDF4E7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22376" y="5093208"/>
            <a:ext cx="548640" cy="548640"/>
          </a:xfrm>
          <a:prstGeom prst="ellipse">
            <a:avLst/>
          </a:prstGeom>
          <a:solidFill>
            <a:srgbClr val="4E9A3E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22376" y="5093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497433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Mediate, don’t transmit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417320" y="534009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discovery; give learners real voice and choice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217920" y="4791456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BF2DD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437376" y="5093208"/>
            <a:ext cx="548640" cy="548640"/>
          </a:xfrm>
          <a:prstGeom prst="ellipse">
            <a:avLst/>
          </a:prstGeom>
          <a:solidFill>
            <a:srgbClr val="F2AD3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437376" y="5093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7132320" y="497433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 the didactic sequence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7132320" y="534009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activities, mediation and assessment to bio-pedagogical traits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3272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2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97280" y="42062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E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ideas to carry forward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69164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EDF4E7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984248"/>
            <a:ext cx="822960" cy="822960"/>
          </a:xfrm>
          <a:prstGeom prst="ellipse">
            <a:avLst/>
          </a:prstGeom>
          <a:solidFill>
            <a:srgbClr val="4E9A3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10" y="2198218"/>
            <a:ext cx="395021" cy="39502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20040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C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758952" y="2971800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teacher is a mediator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58952" y="3840480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controller. The quality of the relationship decides whether learning happens — the core bio-pedagogical shift (Pérez-Cárdenas, 2021).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297680" y="169164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FBF2DD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0" y="1984248"/>
            <a:ext cx="822960" cy="822960"/>
          </a:xfrm>
          <a:prstGeom prst="ellipse">
            <a:avLst/>
          </a:prstGeom>
          <a:solidFill>
            <a:srgbClr val="F2AD3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970" y="2198218"/>
            <a:ext cx="395021" cy="39502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951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BD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5" name="Text 10"/>
          <p:cNvSpPr txBox="1"/>
          <p:nvPr/>
        </p:nvSpPr>
        <p:spPr>
          <a:xfrm>
            <a:off x="4553712" y="2971800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 powers learning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4553712" y="3840480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emotions broaden and build (MacIntyre &amp; Gregersen, 2012) and drive motivation (Méndez, 2011; Galeano, 2022).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092440" y="169164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EDF4E7"/>
          </a:solidFill>
          <a:ln w="9525">
            <a:solidFill>
              <a:srgbClr val="D8E0D2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2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66760" y="1984248"/>
            <a:ext cx="822960" cy="822960"/>
          </a:xfrm>
          <a:prstGeom prst="ellipse">
            <a:avLst/>
          </a:prstGeom>
          <a:solidFill>
            <a:srgbClr val="007AC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0730" y="2198218"/>
            <a:ext cx="395021" cy="39502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7899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C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21" name="Text 15"/>
          <p:cNvSpPr txBox="1"/>
          <p:nvPr/>
        </p:nvSpPr>
        <p:spPr>
          <a:xfrm>
            <a:off x="8348472" y="2971800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 makes it transformative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348472" y="3840480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E7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Tying language to values and real life (Niu, 2024) turns a lesson into a transcendental change — as the choir did for the boys.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02920" y="544068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F5E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“Education is, above all, a relationship.”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3272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2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97280" y="42062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E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BIBLIOGRAPHICAL REFERENCES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— APA 7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1099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6350">
            <a:solidFill>
              <a:srgbClr val="D8E0D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01368"/>
            <a:ext cx="347472" cy="347472"/>
          </a:xfrm>
          <a:prstGeom prst="ellipse">
            <a:avLst/>
          </a:prstGeom>
          <a:solidFill>
            <a:srgbClr val="4E9A3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261872" y="1600200"/>
            <a:ext cx="10195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 R. (2023, May 14). The Chorus (2004) – 720p (with Spanish subtitles) [Video]. YouTube. https://www.youtube.com/watch?v=uUZOVaPi4wo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386584"/>
            <a:ext cx="11109960" cy="749808"/>
          </a:xfrm>
          <a:prstGeom prst="roundRect">
            <a:avLst>
              <a:gd name="adj" fmla="val 7317"/>
            </a:avLst>
          </a:prstGeom>
          <a:solidFill>
            <a:srgbClr val="F6F9F3"/>
          </a:solidFill>
          <a:ln w="6350">
            <a:solidFill>
              <a:srgbClr val="D8E0D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587752"/>
            <a:ext cx="347472" cy="347472"/>
          </a:xfrm>
          <a:prstGeom prst="ellipse">
            <a:avLst/>
          </a:prstGeom>
          <a:solidFill>
            <a:srgbClr val="4E9A3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1520" y="2587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261872" y="2386584"/>
            <a:ext cx="10195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MacIntyre, P., &amp; Gregersen, T. (2012). Emotions that facilitate language learning: The positive-broadening power of the imagination. Studies in Second Language Learning and Teaching, 2(2), 193–213. https://files.eric.ed.gov/fulltext/EJ1135856.pdf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172968"/>
            <a:ext cx="111099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6350">
            <a:solidFill>
              <a:srgbClr val="D8E0D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3374136"/>
            <a:ext cx="347472" cy="347472"/>
          </a:xfrm>
          <a:prstGeom prst="ellipse">
            <a:avLst/>
          </a:prstGeom>
          <a:solidFill>
            <a:srgbClr val="4E9A3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1520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261872" y="3172968"/>
            <a:ext cx="10195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Méndez, M. (2011). The motivational properties of emotions in Foreign Language Learning. Colombian Applied Linguistics Journal, 13(2), 43–59. http://www.scielo.org.co/scielo.php?script=sci_arttext&amp;pid=S0123-46412011000200004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3959352"/>
            <a:ext cx="11109960" cy="749808"/>
          </a:xfrm>
          <a:prstGeom prst="roundRect">
            <a:avLst>
              <a:gd name="adj" fmla="val 7317"/>
            </a:avLst>
          </a:prstGeom>
          <a:solidFill>
            <a:srgbClr val="F6F9F3"/>
          </a:solidFill>
          <a:ln w="6350">
            <a:solidFill>
              <a:srgbClr val="D8E0D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4160520"/>
            <a:ext cx="347472" cy="347472"/>
          </a:xfrm>
          <a:prstGeom prst="ellipse">
            <a:avLst/>
          </a:prstGeom>
          <a:solidFill>
            <a:srgbClr val="4E9A3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4160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261872" y="3959352"/>
            <a:ext cx="10195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Niu, P. (2024). A transdisciplinary approach to ELT: Teaching values and ideology in real-world context. Curriculum and Teaching Methodology, 7(1), 190–195.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4745736"/>
            <a:ext cx="111099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6350">
            <a:solidFill>
              <a:srgbClr val="D8E0D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1520" y="4946904"/>
            <a:ext cx="347472" cy="347472"/>
          </a:xfrm>
          <a:prstGeom prst="ellipse">
            <a:avLst/>
          </a:prstGeom>
          <a:solidFill>
            <a:srgbClr val="4E9A3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31520" y="4946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61872" y="4745736"/>
            <a:ext cx="10195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Pérez-Cárdenas, L. V. (2021). De la mediación pedagógica y los rasgos clave biopedagógicos hacia los cambios trascendentales en las prácticas de TEFL. EducAcción Sentipensante, 1(1), 47–57. https://doi.org/10.22490/28057597.5428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5532120"/>
            <a:ext cx="11109960" cy="749808"/>
          </a:xfrm>
          <a:prstGeom prst="roundRect">
            <a:avLst>
              <a:gd name="adj" fmla="val 7317"/>
            </a:avLst>
          </a:prstGeom>
          <a:solidFill>
            <a:srgbClr val="F6F9F3"/>
          </a:solidFill>
          <a:ln w="6350">
            <a:solidFill>
              <a:srgbClr val="D8E0D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1520" y="5733288"/>
            <a:ext cx="347472" cy="347472"/>
          </a:xfrm>
          <a:prstGeom prst="ellipse">
            <a:avLst/>
          </a:prstGeom>
          <a:solidFill>
            <a:srgbClr val="4E9A3E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31520" y="5733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261872" y="5532120"/>
            <a:ext cx="10195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Galeano, H. (2022). Motivational Components in Foreign Language Learning [Objeto virtual de información – OVI]. Repositorio Institucional UNAD. https://repository.unad.edu.co/handle/10596/49140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3272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726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490704" y="579729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F5E34"/>
          </a:solidFill>
          <a:ln/>
        </p:spPr>
      </p:sp>
      <p:sp>
        <p:nvSpPr>
          <p:cNvPr id="3" name="Shape 1"/>
          <p:cNvSpPr/>
          <p:nvPr/>
        </p:nvSpPr>
        <p:spPr>
          <a:xfrm rot="1800000">
            <a:off x="12177088" y="696772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F5E34"/>
          </a:solidFill>
          <a:ln/>
        </p:spPr>
      </p:sp>
      <p:sp>
        <p:nvSpPr>
          <p:cNvPr id="4" name="Shape 2"/>
          <p:cNvSpPr/>
          <p:nvPr/>
        </p:nvSpPr>
        <p:spPr>
          <a:xfrm rot="3600000">
            <a:off x="11320272" y="782454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F5E34"/>
          </a:solidFill>
          <a:ln/>
        </p:spPr>
      </p:sp>
      <p:sp>
        <p:nvSpPr>
          <p:cNvPr id="5" name="Shape 3"/>
          <p:cNvSpPr/>
          <p:nvPr/>
        </p:nvSpPr>
        <p:spPr>
          <a:xfrm rot="5400000">
            <a:off x="10149840" y="8138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F5E34"/>
          </a:solidFill>
          <a:ln/>
        </p:spPr>
      </p:sp>
      <p:sp>
        <p:nvSpPr>
          <p:cNvPr id="6" name="Shape 4"/>
          <p:cNvSpPr/>
          <p:nvPr/>
        </p:nvSpPr>
        <p:spPr>
          <a:xfrm rot="7200000">
            <a:off x="8979408" y="782454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F5E34"/>
          </a:solidFill>
          <a:ln/>
        </p:spPr>
      </p:sp>
      <p:sp>
        <p:nvSpPr>
          <p:cNvPr id="7" name="Shape 5"/>
          <p:cNvSpPr/>
          <p:nvPr/>
        </p:nvSpPr>
        <p:spPr>
          <a:xfrm rot="9000000">
            <a:off x="8122592" y="696772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F5E34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7808976" y="5797296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F5E34"/>
          </a:solidFill>
          <a:ln/>
        </p:spPr>
      </p:sp>
      <p:sp>
        <p:nvSpPr>
          <p:cNvPr id="9" name="Shape 7"/>
          <p:cNvSpPr/>
          <p:nvPr/>
        </p:nvSpPr>
        <p:spPr>
          <a:xfrm rot="12600000">
            <a:off x="8122592" y="462686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F5E34"/>
          </a:solidFill>
          <a:ln/>
        </p:spPr>
      </p:sp>
      <p:sp>
        <p:nvSpPr>
          <p:cNvPr id="10" name="Shape 8"/>
          <p:cNvSpPr/>
          <p:nvPr/>
        </p:nvSpPr>
        <p:spPr>
          <a:xfrm rot="14400000">
            <a:off x="8979408" y="37700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F5E34"/>
          </a:solidFill>
          <a:ln/>
        </p:spPr>
      </p:sp>
      <p:sp>
        <p:nvSpPr>
          <p:cNvPr id="11" name="Shape 9"/>
          <p:cNvSpPr/>
          <p:nvPr/>
        </p:nvSpPr>
        <p:spPr>
          <a:xfrm rot="16200000">
            <a:off x="10149840" y="34564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F5E34"/>
          </a:solidFill>
          <a:ln/>
        </p:spPr>
      </p:sp>
      <p:sp>
        <p:nvSpPr>
          <p:cNvPr id="12" name="Shape 10"/>
          <p:cNvSpPr/>
          <p:nvPr/>
        </p:nvSpPr>
        <p:spPr>
          <a:xfrm rot="18000000">
            <a:off x="11320272" y="37700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F5E34"/>
          </a:solidFill>
          <a:ln/>
        </p:spPr>
      </p:sp>
      <p:sp>
        <p:nvSpPr>
          <p:cNvPr id="13" name="Shape 11"/>
          <p:cNvSpPr/>
          <p:nvPr/>
        </p:nvSpPr>
        <p:spPr>
          <a:xfrm rot="19800000">
            <a:off x="12177088" y="462686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F5E34"/>
          </a:solidFill>
          <a:ln/>
        </p:spPr>
      </p:sp>
      <p:sp>
        <p:nvSpPr>
          <p:cNvPr id="14" name="Shape 12"/>
          <p:cNvSpPr/>
          <p:nvPr/>
        </p:nvSpPr>
        <p:spPr>
          <a:xfrm>
            <a:off x="8778240" y="4114800"/>
            <a:ext cx="3657600" cy="3657600"/>
          </a:xfrm>
          <a:prstGeom prst="ellipse">
            <a:avLst/>
          </a:prstGeom>
          <a:solidFill>
            <a:srgbClr val="1F5E34"/>
          </a:solidFill>
          <a:ln/>
        </p:spPr>
      </p:sp>
      <p:sp>
        <p:nvSpPr>
          <p:cNvPr id="15" name="Shape 13"/>
          <p:cNvSpPr/>
          <p:nvPr/>
        </p:nvSpPr>
        <p:spPr>
          <a:xfrm>
            <a:off x="9473184" y="4809744"/>
            <a:ext cx="2267712" cy="2267712"/>
          </a:xfrm>
          <a:prstGeom prst="ellipse">
            <a:avLst/>
          </a:prstGeom>
          <a:solidFill>
            <a:srgbClr val="1A4C2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41280" y="532180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838944" y="5797296"/>
            <a:ext cx="1536192" cy="1280160"/>
          </a:xfrm>
          <a:prstGeom prst="chord">
            <a:avLst>
              <a:gd name="adj1" fmla="val 10800000"/>
              <a:gd name="adj2" fmla="val 21600000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46917" y="693847"/>
            <a:ext cx="64008" cy="20483"/>
          </a:xfrm>
          <a:prstGeom prst="roundRect">
            <a:avLst>
              <a:gd name="adj" fmla="val 49999"/>
            </a:avLst>
          </a:prstGeom>
          <a:solidFill>
            <a:srgbClr val="F2AD32"/>
          </a:solidFill>
          <a:ln/>
        </p:spPr>
      </p:sp>
      <p:sp>
        <p:nvSpPr>
          <p:cNvPr id="19" name="Shape 17"/>
          <p:cNvSpPr/>
          <p:nvPr/>
        </p:nvSpPr>
        <p:spPr>
          <a:xfrm rot="1800000">
            <a:off x="824964" y="775777"/>
            <a:ext cx="64008" cy="20483"/>
          </a:xfrm>
          <a:prstGeom prst="roundRect">
            <a:avLst>
              <a:gd name="adj" fmla="val 49999"/>
            </a:avLst>
          </a:prstGeom>
          <a:solidFill>
            <a:srgbClr val="4E9A3E"/>
          </a:solidFill>
          <a:ln/>
        </p:spPr>
      </p:sp>
      <p:sp>
        <p:nvSpPr>
          <p:cNvPr id="20" name="Shape 18"/>
          <p:cNvSpPr/>
          <p:nvPr/>
        </p:nvSpPr>
        <p:spPr>
          <a:xfrm rot="3600000">
            <a:off x="764987" y="835754"/>
            <a:ext cx="64008" cy="20483"/>
          </a:xfrm>
          <a:prstGeom prst="roundRect">
            <a:avLst>
              <a:gd name="adj" fmla="val 49999"/>
            </a:avLst>
          </a:prstGeom>
          <a:solidFill>
            <a:srgbClr val="F2AD32"/>
          </a:solidFill>
          <a:ln/>
        </p:spPr>
      </p:sp>
      <p:sp>
        <p:nvSpPr>
          <p:cNvPr id="21" name="Shape 19"/>
          <p:cNvSpPr/>
          <p:nvPr/>
        </p:nvSpPr>
        <p:spPr>
          <a:xfrm rot="5400000">
            <a:off x="683057" y="857707"/>
            <a:ext cx="64008" cy="20483"/>
          </a:xfrm>
          <a:prstGeom prst="roundRect">
            <a:avLst>
              <a:gd name="adj" fmla="val 49999"/>
            </a:avLst>
          </a:prstGeom>
          <a:solidFill>
            <a:srgbClr val="4E9A3E"/>
          </a:solidFill>
          <a:ln/>
        </p:spPr>
      </p:sp>
      <p:sp>
        <p:nvSpPr>
          <p:cNvPr id="22" name="Shape 20"/>
          <p:cNvSpPr/>
          <p:nvPr/>
        </p:nvSpPr>
        <p:spPr>
          <a:xfrm rot="7200000">
            <a:off x="601127" y="835754"/>
            <a:ext cx="64008" cy="20483"/>
          </a:xfrm>
          <a:prstGeom prst="roundRect">
            <a:avLst>
              <a:gd name="adj" fmla="val 49999"/>
            </a:avLst>
          </a:prstGeom>
          <a:solidFill>
            <a:srgbClr val="F2AD32"/>
          </a:solidFill>
          <a:ln/>
        </p:spPr>
      </p:sp>
      <p:sp>
        <p:nvSpPr>
          <p:cNvPr id="23" name="Shape 21"/>
          <p:cNvSpPr/>
          <p:nvPr/>
        </p:nvSpPr>
        <p:spPr>
          <a:xfrm rot="9000000">
            <a:off x="541149" y="775777"/>
            <a:ext cx="64008" cy="20483"/>
          </a:xfrm>
          <a:prstGeom prst="roundRect">
            <a:avLst>
              <a:gd name="adj" fmla="val 49999"/>
            </a:avLst>
          </a:prstGeom>
          <a:solidFill>
            <a:srgbClr val="4E9A3E"/>
          </a:solidFill>
          <a:ln/>
        </p:spPr>
      </p:sp>
      <p:sp>
        <p:nvSpPr>
          <p:cNvPr id="24" name="Shape 22"/>
          <p:cNvSpPr/>
          <p:nvPr/>
        </p:nvSpPr>
        <p:spPr>
          <a:xfrm rot="10800000">
            <a:off x="519196" y="693847"/>
            <a:ext cx="64008" cy="20483"/>
          </a:xfrm>
          <a:prstGeom prst="roundRect">
            <a:avLst>
              <a:gd name="adj" fmla="val 49999"/>
            </a:avLst>
          </a:prstGeom>
          <a:solidFill>
            <a:srgbClr val="F2AD32"/>
          </a:solidFill>
          <a:ln/>
        </p:spPr>
      </p:sp>
      <p:sp>
        <p:nvSpPr>
          <p:cNvPr id="25" name="Shape 23"/>
          <p:cNvSpPr/>
          <p:nvPr/>
        </p:nvSpPr>
        <p:spPr>
          <a:xfrm rot="12600000">
            <a:off x="541149" y="611916"/>
            <a:ext cx="64008" cy="20483"/>
          </a:xfrm>
          <a:prstGeom prst="roundRect">
            <a:avLst>
              <a:gd name="adj" fmla="val 49999"/>
            </a:avLst>
          </a:prstGeom>
          <a:solidFill>
            <a:srgbClr val="4E9A3E"/>
          </a:solidFill>
          <a:ln/>
        </p:spPr>
      </p:sp>
      <p:sp>
        <p:nvSpPr>
          <p:cNvPr id="26" name="Shape 24"/>
          <p:cNvSpPr/>
          <p:nvPr/>
        </p:nvSpPr>
        <p:spPr>
          <a:xfrm rot="14400000">
            <a:off x="601127" y="551939"/>
            <a:ext cx="64008" cy="20483"/>
          </a:xfrm>
          <a:prstGeom prst="roundRect">
            <a:avLst>
              <a:gd name="adj" fmla="val 49999"/>
            </a:avLst>
          </a:prstGeom>
          <a:solidFill>
            <a:srgbClr val="F2AD32"/>
          </a:solidFill>
          <a:ln/>
        </p:spPr>
      </p:sp>
      <p:sp>
        <p:nvSpPr>
          <p:cNvPr id="27" name="Shape 25"/>
          <p:cNvSpPr/>
          <p:nvPr/>
        </p:nvSpPr>
        <p:spPr>
          <a:xfrm rot="16200000">
            <a:off x="683057" y="529986"/>
            <a:ext cx="64008" cy="20483"/>
          </a:xfrm>
          <a:prstGeom prst="roundRect">
            <a:avLst>
              <a:gd name="adj" fmla="val 49999"/>
            </a:avLst>
          </a:prstGeom>
          <a:solidFill>
            <a:srgbClr val="4E9A3E"/>
          </a:solidFill>
          <a:ln/>
        </p:spPr>
      </p:sp>
      <p:sp>
        <p:nvSpPr>
          <p:cNvPr id="28" name="Shape 26"/>
          <p:cNvSpPr/>
          <p:nvPr/>
        </p:nvSpPr>
        <p:spPr>
          <a:xfrm rot="18000000">
            <a:off x="764987" y="551939"/>
            <a:ext cx="64008" cy="20483"/>
          </a:xfrm>
          <a:prstGeom prst="roundRect">
            <a:avLst>
              <a:gd name="adj" fmla="val 49999"/>
            </a:avLst>
          </a:prstGeom>
          <a:solidFill>
            <a:srgbClr val="F2AD32"/>
          </a:solidFill>
          <a:ln/>
        </p:spPr>
      </p:sp>
      <p:sp>
        <p:nvSpPr>
          <p:cNvPr id="29" name="Shape 27"/>
          <p:cNvSpPr/>
          <p:nvPr/>
        </p:nvSpPr>
        <p:spPr>
          <a:xfrm rot="19800000">
            <a:off x="824964" y="611916"/>
            <a:ext cx="64008" cy="20483"/>
          </a:xfrm>
          <a:prstGeom prst="roundRect">
            <a:avLst>
              <a:gd name="adj" fmla="val 49999"/>
            </a:avLst>
          </a:prstGeom>
          <a:solidFill>
            <a:srgbClr val="4E9A3E"/>
          </a:solidFill>
          <a:ln/>
        </p:spPr>
      </p:sp>
      <p:sp>
        <p:nvSpPr>
          <p:cNvPr id="30" name="Shape 28"/>
          <p:cNvSpPr/>
          <p:nvPr/>
        </p:nvSpPr>
        <p:spPr>
          <a:xfrm>
            <a:off x="587045" y="576072"/>
            <a:ext cx="256032" cy="256032"/>
          </a:xfrm>
          <a:prstGeom prst="ellipse">
            <a:avLst/>
          </a:prstGeom>
          <a:solidFill>
            <a:srgbClr val="4E9A3E"/>
          </a:solidFill>
          <a:ln/>
        </p:spPr>
      </p:sp>
      <p:sp>
        <p:nvSpPr>
          <p:cNvPr id="31" name="Shape 29"/>
          <p:cNvSpPr/>
          <p:nvPr/>
        </p:nvSpPr>
        <p:spPr>
          <a:xfrm>
            <a:off x="635691" y="624718"/>
            <a:ext cx="158740" cy="158740"/>
          </a:xfrm>
          <a:prstGeom prst="ellipse">
            <a:avLst/>
          </a:prstGeom>
          <a:solidFill>
            <a:srgbClr val="F2AD32"/>
          </a:solidFill>
          <a:ln/>
        </p:spPr>
      </p:sp>
      <p:sp>
        <p:nvSpPr>
          <p:cNvPr id="32" name="Shape 30"/>
          <p:cNvSpPr/>
          <p:nvPr/>
        </p:nvSpPr>
        <p:spPr>
          <a:xfrm>
            <a:off x="689458" y="660563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61294" y="693847"/>
            <a:ext cx="107533" cy="89611"/>
          </a:xfrm>
          <a:prstGeom prst="chord">
            <a:avLst>
              <a:gd name="adj1" fmla="val 10800000"/>
              <a:gd name="adj2" fmla="val 2160000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07085" y="484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UNAD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907085" y="7223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C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Abierta y a Distancia</a:t>
            </a:r>
            <a:endParaRPr lang="en-US" sz="75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286000"/>
            <a:ext cx="685800" cy="685800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502920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41148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D9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Mathieu’s choir, good teaching gives every learner a voice —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D9E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turns emotion into the first step of learning.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566928" y="5394960"/>
            <a:ext cx="2103120" cy="32004"/>
          </a:xfrm>
          <a:prstGeom prst="roundRect">
            <a:avLst>
              <a:gd name="adj" fmla="val 57143"/>
            </a:avLst>
          </a:prstGeom>
          <a:solidFill>
            <a:srgbClr val="F2AD32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548640" y="5577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Blanca Milena Sáenz Clavijo  ·  Bio-Pedagogical Characteristics of Education (523004A_2204)  ·  UNAD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UNAD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Chorus (2004) — Bio-Pedagogical Mediation</dc:title>
  <dc:subject>PptxGenJS Presentation</dc:subject>
  <dc:creator>Blanca Milena Sáenz Clavijo</dc:creator>
  <cp:lastModifiedBy>Blanca Milena Sáenz Clavijo</cp:lastModifiedBy>
  <cp:revision>1</cp:revision>
  <dcterms:created xsi:type="dcterms:W3CDTF">2026-10-14T19:47:59Z</dcterms:created>
  <dcterms:modified xsi:type="dcterms:W3CDTF">2026-10-14T19:47:59Z</dcterms:modified>
</cp:coreProperties>
</file>